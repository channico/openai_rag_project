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e2d16f1cf2043fd" /><Relationship Type="http://schemas.openxmlformats.org/officeDocument/2006/relationships/extended-properties" Target="/docProps/app.xml" Id="R57112cf6baa845f5" /><Relationship Type="http://schemas.openxmlformats.org/officeDocument/2006/relationships/officeDocument" Target="/ppt/presentation.xml" Id="R18a3c052a5284bea" /></Relationships>
</file>

<file path=ppt/presentation.xml><?xml version="1.0" encoding="utf-8"?>
<p:presentation xmlns:p="http://schemas.openxmlformats.org/presentationml/2006/main">
  <p:sldMasterIdLst>
    <p:sldMasterId xmlns:r="http://schemas.openxmlformats.org/officeDocument/2006/relationships" id="2147483648" r:id="Ra9aa1835f5774c5a"/>
  </p:sldMasterIdLst>
  <p:notesMasterIdLst>
    <p:notesMasterId xmlns:r="http://schemas.openxmlformats.org/officeDocument/2006/relationships" r:id="Rb86c8d995c7b41a0"/>
  </p:notesMasterIdLst>
  <p:sldIdLst>
    <p:sldId xmlns:r="http://schemas.openxmlformats.org/officeDocument/2006/relationships" id="256" r:id="R041388d7446249a5"/>
    <p:sldId xmlns:r="http://schemas.openxmlformats.org/officeDocument/2006/relationships" id="257" r:id="R58a4597942484a2c"/>
    <p:sldId xmlns:r="http://schemas.openxmlformats.org/officeDocument/2006/relationships" id="258" r:id="R4ad4ca9b718b4eaa"/>
    <p:sldId xmlns:r="http://schemas.openxmlformats.org/officeDocument/2006/relationships" id="259" r:id="R30c01dacfa7a46e2"/>
    <p:sldId xmlns:r="http://schemas.openxmlformats.org/officeDocument/2006/relationships" id="260" r:id="Rbcc634f590d04323"/>
    <p:sldId xmlns:r="http://schemas.openxmlformats.org/officeDocument/2006/relationships" id="261" r:id="R4bb7901aefac4721"/>
    <p:sldId xmlns:r="http://schemas.openxmlformats.org/officeDocument/2006/relationships" id="262" r:id="Reddb470c34a74ba6"/>
    <p:sldId xmlns:r="http://schemas.openxmlformats.org/officeDocument/2006/relationships" id="263" r:id="R0711a0a5e8934e0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1dfc79b8b014611" /><Relationship Type="http://schemas.openxmlformats.org/officeDocument/2006/relationships/slideMaster" Target="/ppt/slideMasters/slideMaster1.xml" Id="Ra9aa1835f5774c5a" /><Relationship Type="http://schemas.openxmlformats.org/officeDocument/2006/relationships/notesMaster" Target="/ppt/notesMasters/notesMaster1.xml" Id="Rb86c8d995c7b41a0" /><Relationship Type="http://schemas.openxmlformats.org/officeDocument/2006/relationships/presProps" Target="/ppt/presProps.xml" Id="R4ad4f424f0ad44f5" /><Relationship Type="http://schemas.openxmlformats.org/officeDocument/2006/relationships/tableStyles" Target="/ppt/tableStyles.xml" Id="Rab83a3d49fa14fff" /><Relationship Type="http://schemas.openxmlformats.org/officeDocument/2006/relationships/slide" Target="/ppt/slides/slide1.xml" Id="R041388d7446249a5" /><Relationship Type="http://schemas.openxmlformats.org/officeDocument/2006/relationships/slide" Target="/ppt/slides/slide2.xml" Id="R58a4597942484a2c" /><Relationship Type="http://schemas.openxmlformats.org/officeDocument/2006/relationships/slide" Target="/ppt/slides/slide3.xml" Id="R4ad4ca9b718b4eaa" /><Relationship Type="http://schemas.openxmlformats.org/officeDocument/2006/relationships/slide" Target="/ppt/slides/slide4.xml" Id="R30c01dacfa7a46e2" /><Relationship Type="http://schemas.openxmlformats.org/officeDocument/2006/relationships/slide" Target="/ppt/slides/slide5.xml" Id="Rbcc634f590d04323" /><Relationship Type="http://schemas.openxmlformats.org/officeDocument/2006/relationships/slide" Target="/ppt/slides/slide6.xml" Id="R4bb7901aefac4721" /><Relationship Type="http://schemas.openxmlformats.org/officeDocument/2006/relationships/slide" Target="/ppt/slides/slide7.xml" Id="Reddb470c34a74ba6" /><Relationship Type="http://schemas.openxmlformats.org/officeDocument/2006/relationships/slide" Target="/ppt/slides/slide8.xml" Id="R0711a0a5e8934e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42d979c62e4aa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85cc4f6db544e8" /><Relationship Type="http://schemas.openxmlformats.org/officeDocument/2006/relationships/notesMaster" Target="/ppt/notesMasters/notesMaster1.xml" Id="Rd4a56396eaa2428e" /></Relationships>
</file>

<file path=ppt/notesSlides/_rels/notesSlide2.xml.rels>&#65279;<?xml version="1.0" encoding="utf-8"?><Relationships xmlns="http://schemas.openxmlformats.org/package/2006/relationships"><Relationship Type="http://schemas.openxmlformats.org/officeDocument/2006/relationships/slide" Target="/ppt/slides/slide2.xml" Id="Ra54b24dc0ca648f0" /><Relationship Type="http://schemas.openxmlformats.org/officeDocument/2006/relationships/notesMaster" Target="/ppt/notesMasters/notesMaster1.xml" Id="R7c61886813ed44b1" /></Relationships>
</file>

<file path=ppt/notesSlides/_rels/notesSlide3.xml.rels>&#65279;<?xml version="1.0" encoding="utf-8"?><Relationships xmlns="http://schemas.openxmlformats.org/package/2006/relationships"><Relationship Type="http://schemas.openxmlformats.org/officeDocument/2006/relationships/slide" Target="/ppt/slides/slide3.xml" Id="R871dd0d890574386" /><Relationship Type="http://schemas.openxmlformats.org/officeDocument/2006/relationships/notesMaster" Target="/ppt/notesMasters/notesMaster1.xml" Id="R007489182561439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952363261b04763" /><Relationship Type="http://schemas.openxmlformats.org/officeDocument/2006/relationships/notesMaster" Target="/ppt/notesMasters/notesMaster1.xml" Id="R10ee6103b9e647a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df146d5ce56448c" /><Relationship Type="http://schemas.openxmlformats.org/officeDocument/2006/relationships/notesMaster" Target="/ppt/notesMasters/notesMaster1.xml" Id="R33d5600e32964121" /></Relationships>
</file>

<file path=ppt/notesSlides/_rels/notesSlide6.xml.rels>&#65279;<?xml version="1.0" encoding="utf-8"?><Relationships xmlns="http://schemas.openxmlformats.org/package/2006/relationships"><Relationship Type="http://schemas.openxmlformats.org/officeDocument/2006/relationships/slide" Target="/ppt/slides/slide6.xml" Id="Rde525ba84b914961" /><Relationship Type="http://schemas.openxmlformats.org/officeDocument/2006/relationships/notesMaster" Target="/ppt/notesMasters/notesMaster1.xml" Id="R86183085a87b4359" /></Relationships>
</file>

<file path=ppt/notesSlides/_rels/notesSlide7.xml.rels>&#65279;<?xml version="1.0" encoding="utf-8"?><Relationships xmlns="http://schemas.openxmlformats.org/package/2006/relationships"><Relationship Type="http://schemas.openxmlformats.org/officeDocument/2006/relationships/slide" Target="/ppt/slides/slide7.xml" Id="R2ab4ec3c5b034735" /><Relationship Type="http://schemas.openxmlformats.org/officeDocument/2006/relationships/notesMaster" Target="/ppt/notesMasters/notesMaster1.xml" Id="Rd5f61a94ce5b4001" /></Relationships>
</file>

<file path=ppt/notesSlides/_rels/notesSlide8.xml.rels>&#65279;<?xml version="1.0" encoding="utf-8"?><Relationships xmlns="http://schemas.openxmlformats.org/package/2006/relationships"><Relationship Type="http://schemas.openxmlformats.org/officeDocument/2006/relationships/slide" Target="/ppt/slides/slide8.xml" Id="R9b302fb9ee444ff0" /><Relationship Type="http://schemas.openxmlformats.org/officeDocument/2006/relationships/notesMaster" Target="/ppt/notesMasters/notesMaster1.xml" Id="R823a692010e746f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This is a ten-minute teaching demonstration built from a real failure in my local RAG lab. The system retrieved the correct travel policy, but the requested value was absent. I will show why that matters and how an agent should respond.</a:t>
            </a:r>
          </a:p>
          <a:p xmlns:a="http://schemas.openxmlformats.org/drawingml/2006/main">
            <a:r>
              <a:t/>
            </a:r>
          </a:p>
          <a:p xmlns:a="http://schemas.openxmlformats.org/drawingml/2006/main">
            <a:r>
              <a:t>[Sources]</a:t>
            </a:r>
          </a:p>
          <a:p xmlns:a="http://schemas.openxmlformats.org/drawingml/2006/main">
            <a:r>
              <a:t>Local project evidence: rag_app.py, eval questions, and policy corpus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distinction explicitly. Ingestion transforms documents into searchable vectors. At query time, the question is embedded, candidates are ranked, a calibrated threshold filters weak matches, and only retrieved evidence goes to the model. Retrieval and generation are separate failure surfaces.</a:t>
            </a:r>
          </a:p>
          <a:p xmlns:a="http://schemas.openxmlformats.org/drawingml/2006/main">
            <a:r>
              <a:t/>
            </a:r>
          </a:p>
          <a:p xmlns:a="http://schemas.openxmlformats.org/drawingml/2006/main">
            <a:r>
              <a:t>[Sources]</a:t>
            </a:r>
          </a:p>
          <a:p xmlns:a="http://schemas.openxmlformats.org/drawingml/2006/main">
            <a:r>
              <a:t>https://developers.openai.com/api/docs/guides/retrieval</a:t>
            </a:r>
          </a:p>
          <a:p xmlns:a="http://schemas.openxmlformats.org/drawingml/2006/main">
            <a:r>
              <a:t>Local project evidence: rag_app.py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the room to predict first: Will the system retrieve, abstain, or hallucinate? Then reveal the held-out result. The score exceeded the frozen 0.45 threshold, so retrieval correctly returned the travel policy. But the document did not specify a numeric meal allowance.</a:t>
            </a:r>
          </a:p>
          <a:p xmlns:a="http://schemas.openxmlformats.org/drawingml/2006/main">
            <a:r>
              <a:t/>
            </a:r>
          </a:p>
          <a:p xmlns:a="http://schemas.openxmlformats.org/drawingml/2006/main">
            <a:r>
              <a:t>[Sources]</a:t>
            </a:r>
          </a:p>
          <a:p xmlns:a="http://schemas.openxmlformats.org/drawingml/2006/main">
            <a:r>
              <a:t>Local project evidence: held-out evaluation result, threshold 0.45, travel_policy.txt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this to familiar ML concepts. On six held-out questions there were three true positives, one false positive, two true negatives, and no false negatives. Precision is three out of four retrieved answers: 75%. Recall is three out of three answerable questions: 100%. The key failure is evidence sufficiency, not topic relevance.</a:t>
            </a:r>
          </a:p>
          <a:p xmlns:a="http://schemas.openxmlformats.org/drawingml/2006/main">
            <a:r>
              <a:t/>
            </a:r>
          </a:p>
          <a:p xmlns:a="http://schemas.openxmlformats.org/drawingml/2006/main">
            <a:r>
              <a:t>[Sources]</a:t>
            </a:r>
          </a:p>
          <a:p xmlns:a="http://schemas.openxmlformats.org/drawingml/2006/main">
            <a:r>
              <a:t>Local project evidence: held-out evaluation output supplied by Nicodemus Chan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learner's analogy: this is like backtesting. Once the test result is visible, moving the threshold to repair that exact row contaminates the test. Preserve it as evidence, add similar labeled cases to development data, and improve the system deliberately.</a:t>
            </a:r>
          </a:p>
          <a:p xmlns:a="http://schemas.openxmlformats.org/drawingml/2006/main">
            <a:r>
              <a:t/>
            </a:r>
          </a:p>
          <a:p xmlns:a="http://schemas.openxmlformats.org/drawingml/2006/main">
            <a:r>
              <a:t>[Sources]</a:t>
            </a:r>
          </a:p>
          <a:p xmlns:a="http://schemas.openxmlformats.org/drawingml/2006/main">
            <a:r>
              <a:t>Local project evidence: threshold calibration and held-out evaluation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agent is not magic. It owns a loop: receive the question, call the retrieval tool, inspect the returned evidence, and either answer from that evidence or abstain. In this lab it correctly says the maximum is not specified. That is a better result than inventing a number.</a:t>
            </a:r>
          </a:p>
          <a:p xmlns:a="http://schemas.openxmlformats.org/drawingml/2006/main">
            <a:r>
              <a:t/>
            </a:r>
          </a:p>
          <a:p xmlns:a="http://schemas.openxmlformats.org/drawingml/2006/main">
            <a:r>
              <a:t>[Sources]</a:t>
            </a:r>
          </a:p>
          <a:p xmlns:a="http://schemas.openxmlformats.org/drawingml/2006/main">
            <a:r>
              <a:t>https://developers.openai.com/api/docs/guides/agents</a:t>
            </a:r>
          </a:p>
          <a:p xmlns:a="http://schemas.openxmlformats.org/drawingml/2006/main">
            <a:r>
              <a:t>Local project evidence: rag_agent.py and rag_app.py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teaching method behind the demonstration. Ask learners to predict before running code. Build the smallest working version. Break it with a realistic edge case. Explain the failure using evidence and traces. Improve one mechanism, then evaluate again. The pattern transfers to RAG, agents, MCP, APIs, and troubleshooting.</a:t>
            </a:r>
          </a:p>
          <a:p xmlns:a="http://schemas.openxmlformats.org/drawingml/2006/main">
            <a:r>
              <a:t/>
            </a:r>
          </a:p>
          <a:p xmlns:a="http://schemas.openxmlformats.org/drawingml/2006/main">
            <a:r>
              <a:t>[Sources]</a:t>
            </a:r>
          </a:p>
          <a:p xmlns:a="http://schemas.openxmlformats.org/drawingml/2006/main">
            <a:r>
              <a:t>Local project evidence: the lesson sequence and held-out RAG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existing policy RAG remains the source of retrieval behavior. The MCP server is a standard adapter in front of it: clients discover search_company_policies, send a typed question, and receive structured evidence. A training agent or IDE assistant can be an MCP host directly; a web chat or WhatsApp channel normally reaches MCP through its application backend. Each host still decides how to use the evidence and whether to answer or abstain.</a:t>
            </a:r>
          </a:p>
          <a:p xmlns:a="http://schemas.openxmlformats.org/drawingml/2006/main">
            <a:r>
              <a:t/>
            </a:r>
          </a:p>
          <a:p xmlns:a="http://schemas.openxmlformats.org/drawingml/2006/main">
            <a:r>
              <a:t>[Sources]</a:t>
            </a:r>
          </a:p>
          <a:p xmlns:a="http://schemas.openxmlformats.org/drawingml/2006/main">
            <a:r>
              <a:t>https://developers.openai.com/api/docs/guides/tools-connectors-mcp</a:t>
            </a:r>
          </a:p>
          <a:p xmlns:a="http://schemas.openxmlformats.org/drawingml/2006/main">
            <a:r>
              <a:t>https://modelcontextprotocol.io/docs/getting-started/intro</a:t>
            </a:r>
          </a:p>
          <a:p xmlns:a="http://schemas.openxmlformats.org/drawingml/2006/main">
            <a:r>
              <a:t>Local project evidence: rag_mcp_server.py, rag_mcp_agent.py, and rag_app.py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fce6411637a416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d6062099d242d9" /><Relationship Type="http://schemas.openxmlformats.org/officeDocument/2006/relationships/slideLayout" Target="/ppt/slideLayouts/slideLayout1.xml" Id="R54119e5b862c4c2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119e5b862c4c2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b58740412f5404d" /><Relationship Type="http://schemas.openxmlformats.org/officeDocument/2006/relationships/notesSlide" Target="/ppt/notesSlides/notesSlide1.xml" Id="Rad5da17f19184aa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440abd9b455452d" /><Relationship Type="http://schemas.openxmlformats.org/officeDocument/2006/relationships/notesSlide" Target="/ppt/notesSlides/notesSlide2.xml" Id="R5456f3d52801416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8539950b99947a7" /><Relationship Type="http://schemas.openxmlformats.org/officeDocument/2006/relationships/notesSlide" Target="/ppt/notesSlides/notesSlide3.xml" Id="Rb23ab38ffcb8450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6563a36e13e4918" /><Relationship Type="http://schemas.openxmlformats.org/officeDocument/2006/relationships/notesSlide" Target="/ppt/notesSlides/notesSlide4.xml" Id="R5604113e734b4e8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67d836431b54e76" /><Relationship Type="http://schemas.openxmlformats.org/officeDocument/2006/relationships/notesSlide" Target="/ppt/notesSlides/notesSlide5.xml" Id="Rf20e05c83b604cb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9e01a936e1d45fd" /><Relationship Type="http://schemas.openxmlformats.org/officeDocument/2006/relationships/notesSlide" Target="/ppt/notesSlides/notesSlide6.xml" Id="Ra63e1caf6130439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9579a6225ce4807" /><Relationship Type="http://schemas.openxmlformats.org/officeDocument/2006/relationships/notesSlide" Target="/ppt/notesSlides/notesSlide7.xml" Id="R2d7975a6fef342c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e6facd76802454c" /><Relationship Type="http://schemas.openxmlformats.org/officeDocument/2006/relationships/notesSlide" Target="/ppt/notesSlides/notesSlide8.xml" Id="Rde2d0e96a473432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1CC16CE-81DA-49F5-AABA-D8E13A502890}"/>
              </a:ext>
            </a:extLst>
          </p:cNvPr>
          <p:cNvSpPr>
            <a:spLocks xmlns:a="http://schemas.openxmlformats.org/drawingml/2006/main" noGrp="1"/>
          </p:cNvSpPr>
          <p:nvPr/>
        </p:nvSpPr>
        <p:spPr>
          <a:xfrm xmlns:a="http://schemas.openxmlformats.org/drawingml/2006/main">
            <a:off x="609600" y="514350"/>
            <a:ext cx="3067050" cy="323850"/>
          </a:xfrm>
          <a:prstGeom xmlns:a="http://schemas.openxmlformats.org/drawingml/2006/main" prst="roundRect">
            <a:avLst>
              <a:gd name="adj" fmla="val 50000"/>
            </a:avLst>
          </a:prstGeom>
          <a:solidFill xmlns:a="http://schemas.openxmlformats.org/drawingml/2006/main">
            <a:srgbClr val="EAF5FF"/>
          </a:solidFill>
          <a:ln xmlns:a="http://schemas.openxmlformats.org/drawingml/2006/main" w="14288">
            <a:solidFill>
              <a:srgbClr val="EAF5FF"/>
            </a:solidFill>
            <a:prstDash val="solid"/>
          </a:ln>
        </p:spPr>
      </p:sp>
      <p:sp>
        <p:nvSpPr>
          <p:cNvPr id="2" name="">
            <a:extLst xmlns:a="http://schemas.openxmlformats.org/drawingml/2006/main">
              <a:ext uri="{FF2B5EF4-FFF2-40B4-BE49-F238E27FC236}">
                <a16:creationId xmlns:a16="http://schemas.microsoft.com/office/drawing/2014/main" id="{40597E05-CD3B-45CB-9528-68352254E17D}"/>
              </a:ext>
            </a:extLst>
          </p:cNvPr>
          <p:cNvSpPr>
            <a:spLocks xmlns:a="http://schemas.openxmlformats.org/drawingml/2006/main" noGrp="1"/>
          </p:cNvSpPr>
          <p:nvPr/>
        </p:nvSpPr>
        <p:spPr>
          <a:xfrm xmlns:a="http://schemas.openxmlformats.org/drawingml/2006/main">
            <a:off x="685800" y="561975"/>
            <a:ext cx="2914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3D8DFF"/>
                </a:solidFill>
              </a:defRPr>
            </a:pPr>
            <a:r>
              <a:rPr sz="1050" b="1">
                <a:solidFill>
                  <a:srgbClr val="3D8DFF"/>
                </a:solidFill>
              </a:rPr>
              <a:t>TECHNICAL TEACHING DEMONSTRATION</a:t>
            </a:r>
          </a:p>
        </p:txBody>
      </p:sp>
      <p:sp>
        <p:nvSpPr>
          <p:cNvPr id="3" name="">
            <a:extLst xmlns:a="http://schemas.openxmlformats.org/drawingml/2006/main">
              <a:ext uri="{FF2B5EF4-FFF2-40B4-BE49-F238E27FC236}">
                <a16:creationId xmlns:a16="http://schemas.microsoft.com/office/drawing/2014/main" id="{6A3D537F-453A-48BF-94BE-255425AB5556}"/>
              </a:ext>
            </a:extLst>
          </p:cNvPr>
          <p:cNvSpPr>
            <a:spLocks xmlns:a="http://schemas.openxmlformats.org/drawingml/2006/main" noGrp="1"/>
          </p:cNvSpPr>
          <p:nvPr/>
        </p:nvSpPr>
        <p:spPr>
          <a:xfrm xmlns:a="http://schemas.openxmlformats.org/drawingml/2006/main">
            <a:off x="609600" y="1276350"/>
            <a:ext cx="7239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a:solidFill>
                  <a:srgbClr val="111111"/>
                </a:solidFill>
              </a:defRPr>
            </a:pPr>
            <a:r>
              <a:rPr sz="3750" b="1">
                <a:solidFill>
                  <a:srgbClr val="111111"/>
                </a:solidFill>
              </a:rPr>
              <a:t>When RAG Finds the</a:t>
            </a:r>
          </a:p>
          <a:p xmlns:a="http://schemas.openxmlformats.org/drawingml/2006/main">
            <a:pPr algn="l">
              <a:defRPr sz="3750" b="1">
                <a:solidFill>
                  <a:srgbClr val="111111"/>
                </a:solidFill>
              </a:defRPr>
            </a:pPr>
            <a:r>
              <a:rPr sz="3750" b="1">
                <a:solidFill>
                  <a:srgbClr val="111111"/>
                </a:solidFill>
              </a:rPr>
              <a:t>Right Document - but Not</a:t>
            </a:r>
          </a:p>
          <a:p xmlns:a="http://schemas.openxmlformats.org/drawingml/2006/main">
            <a:pPr algn="l">
              <a:defRPr sz="3750" b="1">
                <a:solidFill>
                  <a:srgbClr val="111111"/>
                </a:solidFill>
              </a:defRPr>
            </a:pPr>
            <a:r>
              <a:rPr sz="3750" b="1">
                <a:solidFill>
                  <a:srgbClr val="111111"/>
                </a:solidFill>
              </a:rPr>
              <a:t>the Answer</a:t>
            </a:r>
          </a:p>
        </p:txBody>
      </p:sp>
      <p:sp>
        <p:nvSpPr>
          <p:cNvPr id="4" name="">
            <a:extLst xmlns:a="http://schemas.openxmlformats.org/drawingml/2006/main">
              <a:ext uri="{FF2B5EF4-FFF2-40B4-BE49-F238E27FC236}">
                <a16:creationId xmlns:a16="http://schemas.microsoft.com/office/drawing/2014/main" id="{041A501B-AA21-4FFC-B91C-E8BD33C71BB8}"/>
              </a:ext>
            </a:extLst>
          </p:cNvPr>
          <p:cNvSpPr>
            <a:spLocks xmlns:a="http://schemas.openxmlformats.org/drawingml/2006/main" noGrp="1"/>
          </p:cNvSpPr>
          <p:nvPr/>
        </p:nvSpPr>
        <p:spPr>
          <a:xfrm xmlns:a="http://schemas.openxmlformats.org/drawingml/2006/main">
            <a:off x="609600" y="4095750"/>
            <a:ext cx="1428750" cy="6667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5" name="">
            <a:extLst xmlns:a="http://schemas.openxmlformats.org/drawingml/2006/main">
              <a:ext uri="{FF2B5EF4-FFF2-40B4-BE49-F238E27FC236}">
                <a16:creationId xmlns:a16="http://schemas.microsoft.com/office/drawing/2014/main" id="{9191FEA9-4564-4584-A1D0-D73A8D0B1DA6}"/>
              </a:ext>
            </a:extLst>
          </p:cNvPr>
          <p:cNvSpPr>
            <a:spLocks xmlns:a="http://schemas.openxmlformats.org/drawingml/2006/main" noGrp="1"/>
          </p:cNvSpPr>
          <p:nvPr/>
        </p:nvSpPr>
        <p:spPr>
          <a:xfrm xmlns:a="http://schemas.openxmlformats.org/drawingml/2006/main">
            <a:off x="609600" y="4429125"/>
            <a:ext cx="7334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5E6670"/>
                </a:solidFill>
              </a:defRPr>
            </a:pPr>
            <a:r>
              <a:rPr sz="1725" b="0">
                <a:solidFill>
                  <a:srgbClr val="5E6670"/>
                </a:solidFill>
              </a:rPr>
              <a:t>A retrieval failure, an agentic fix, and the lesson behind both.</a:t>
            </a:r>
          </a:p>
        </p:txBody>
      </p:sp>
      <p:sp>
        <p:nvSpPr>
          <p:cNvPr id="6" name="">
            <a:extLst xmlns:a="http://schemas.openxmlformats.org/drawingml/2006/main">
              <a:ext uri="{FF2B5EF4-FFF2-40B4-BE49-F238E27FC236}">
                <a16:creationId xmlns:a16="http://schemas.microsoft.com/office/drawing/2014/main" id="{5AFE86F8-6F5B-4F80-BDA2-12DA151DAEA5}"/>
              </a:ext>
            </a:extLst>
          </p:cNvPr>
          <p:cNvSpPr>
            <a:spLocks xmlns:a="http://schemas.openxmlformats.org/drawingml/2006/main" noGrp="1"/>
          </p:cNvSpPr>
          <p:nvPr/>
        </p:nvSpPr>
        <p:spPr>
          <a:xfrm xmlns:a="http://schemas.openxmlformats.org/drawingml/2006/main">
            <a:off x="8858250" y="1143000"/>
            <a:ext cx="2343150" cy="2857500"/>
          </a:xfrm>
          <a:prstGeom xmlns:a="http://schemas.openxmlformats.org/drawingml/2006/main" prst="roundRect">
            <a:avLst>
              <a:gd name="adj" fmla="val 4878"/>
            </a:avLst>
          </a:prstGeom>
          <a:solidFill xmlns:a="http://schemas.openxmlformats.org/drawingml/2006/main">
            <a:srgbClr val="111111"/>
          </a:solidFill>
          <a:ln xmlns:a="http://schemas.openxmlformats.org/drawingml/2006/main" w="14288">
            <a:solidFill>
              <a:srgbClr val="111111"/>
            </a:solidFill>
            <a:prstDash val="solid"/>
          </a:ln>
        </p:spPr>
      </p:sp>
      <p:sp>
        <p:nvSpPr>
          <p:cNvPr id="7" name="">
            <a:extLst xmlns:a="http://schemas.openxmlformats.org/drawingml/2006/main">
              <a:ext uri="{FF2B5EF4-FFF2-40B4-BE49-F238E27FC236}">
                <a16:creationId xmlns:a16="http://schemas.microsoft.com/office/drawing/2014/main" id="{064FD459-D501-41AE-A3FE-64C3F9104ACE}"/>
              </a:ext>
            </a:extLst>
          </p:cNvPr>
          <p:cNvSpPr>
            <a:spLocks xmlns:a="http://schemas.openxmlformats.org/drawingml/2006/main" noGrp="1"/>
          </p:cNvSpPr>
          <p:nvPr/>
        </p:nvSpPr>
        <p:spPr>
          <a:xfrm xmlns:a="http://schemas.openxmlformats.org/drawingml/2006/main">
            <a:off x="9144000" y="1666875"/>
            <a:ext cx="1771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450" b="1">
                <a:solidFill>
                  <a:srgbClr val="FFFFFF"/>
                </a:solidFill>
              </a:defRPr>
            </a:pPr>
            <a:r>
              <a:rPr sz="3450" b="1">
                <a:solidFill>
                  <a:srgbClr val="FFFFFF"/>
                </a:solidFill>
              </a:rPr>
              <a:t>RAG</a:t>
            </a:r>
          </a:p>
        </p:txBody>
      </p:sp>
      <p:sp>
        <p:nvSpPr>
          <p:cNvPr id="8" name="">
            <a:extLst xmlns:a="http://schemas.openxmlformats.org/drawingml/2006/main">
              <a:ext uri="{FF2B5EF4-FFF2-40B4-BE49-F238E27FC236}">
                <a16:creationId xmlns:a16="http://schemas.microsoft.com/office/drawing/2014/main" id="{E2E37558-5BFA-4755-A549-E2B86D46FDA5}"/>
              </a:ext>
            </a:extLst>
          </p:cNvPr>
          <p:cNvSpPr>
            <a:spLocks xmlns:a="http://schemas.openxmlformats.org/drawingml/2006/main" noGrp="1"/>
          </p:cNvSpPr>
          <p:nvPr/>
        </p:nvSpPr>
        <p:spPr>
          <a:xfrm xmlns:a="http://schemas.openxmlformats.org/drawingml/2006/main">
            <a:off x="9144000" y="2400300"/>
            <a:ext cx="1771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a:solidFill>
                  <a:srgbClr val="6DCBF4"/>
                </a:solidFill>
              </a:defRPr>
            </a:pPr>
            <a:r>
              <a:rPr sz="2550" b="1">
                <a:solidFill>
                  <a:srgbClr val="6DCBF4"/>
                </a:solidFill>
              </a:rPr>
              <a:t>+</a:t>
            </a:r>
          </a:p>
        </p:txBody>
      </p:sp>
      <p:sp>
        <p:nvSpPr>
          <p:cNvPr id="9" name="">
            <a:extLst xmlns:a="http://schemas.openxmlformats.org/drawingml/2006/main">
              <a:ext uri="{FF2B5EF4-FFF2-40B4-BE49-F238E27FC236}">
                <a16:creationId xmlns:a16="http://schemas.microsoft.com/office/drawing/2014/main" id="{55C286E1-F664-42E1-8CE5-DC5FFD1171A3}"/>
              </a:ext>
            </a:extLst>
          </p:cNvPr>
          <p:cNvSpPr>
            <a:spLocks xmlns:a="http://schemas.openxmlformats.org/drawingml/2006/main" noGrp="1"/>
          </p:cNvSpPr>
          <p:nvPr/>
        </p:nvSpPr>
        <p:spPr>
          <a:xfrm xmlns:a="http://schemas.openxmlformats.org/drawingml/2006/main">
            <a:off x="9048750" y="3009900"/>
            <a:ext cx="1962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a:solidFill>
                  <a:srgbClr val="FFFFFF"/>
                </a:solidFill>
              </a:defRPr>
            </a:pPr>
            <a:r>
              <a:rPr sz="2550" b="1">
                <a:solidFill>
                  <a:srgbClr val="FFFFFF"/>
                </a:solidFill>
              </a:rPr>
              <a:t>AGENT</a:t>
            </a:r>
          </a:p>
        </p:txBody>
      </p:sp>
      <p:sp>
        <p:nvSpPr>
          <p:cNvPr id="10" name="">
            <a:extLst xmlns:a="http://schemas.openxmlformats.org/drawingml/2006/main">
              <a:ext uri="{FF2B5EF4-FFF2-40B4-BE49-F238E27FC236}">
                <a16:creationId xmlns:a16="http://schemas.microsoft.com/office/drawing/2014/main" id="{598D63EC-A566-44EC-97B7-D2819C6BD822}"/>
              </a:ext>
            </a:extLst>
          </p:cNvPr>
          <p:cNvSpPr>
            <a:spLocks xmlns:a="http://schemas.openxmlformats.org/drawingml/2006/main" noGrp="1"/>
          </p:cNvSpPr>
          <p:nvPr/>
        </p:nvSpPr>
        <p:spPr>
          <a:xfrm xmlns:a="http://schemas.openxmlformats.org/drawingml/2006/main">
            <a:off x="609600" y="5953125"/>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11111"/>
                </a:solidFill>
              </a:defRPr>
            </a:pPr>
            <a:r>
              <a:rPr sz="1650" b="1">
                <a:solidFill>
                  <a:srgbClr val="111111"/>
                </a:solidFill>
              </a:rPr>
              <a:t>Nicodemus Chan</a:t>
            </a:r>
          </a:p>
        </p:txBody>
      </p:sp>
    </p:spTree>
    <p:extLst>
      <p:ext uri="{BB962C8B-B14F-4D97-AF65-F5344CB8AC3E}">
        <p14:creationId xmlns:p14="http://schemas.microsoft.com/office/powerpoint/2010/main" val="189962090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DC622CBD-4B9B-45A8-99B8-A136AF8D5E6E}"/>
              </a:ext>
            </a:extLst>
          </p:cNvPr>
          <p:cNvSpPr>
            <a:spLocks xmlns:a="http://schemas.openxmlformats.org/drawingml/2006/main" noGrp="1"/>
          </p:cNvSpPr>
          <p:nvPr/>
        </p:nvSpPr>
        <p:spPr>
          <a:xfrm xmlns:a="http://schemas.openxmlformats.org/drawingml/2006/main">
            <a:off x="609600" y="361950"/>
            <a:ext cx="838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D8DFF"/>
                </a:solidFill>
              </a:defRPr>
            </a:pPr>
            <a:r>
              <a:rPr sz="975" b="1">
                <a:solidFill>
                  <a:srgbClr val="3D8DFF"/>
                </a:solidFill>
              </a:rPr>
              <a:t>START WITH THE MENTAL MODEL</a:t>
            </a:r>
          </a:p>
        </p:txBody>
      </p:sp>
      <p:sp>
        <p:nvSpPr>
          <p:cNvPr id="2" name="">
            <a:extLst xmlns:a="http://schemas.openxmlformats.org/drawingml/2006/main">
              <a:ext uri="{FF2B5EF4-FFF2-40B4-BE49-F238E27FC236}">
                <a16:creationId xmlns:a16="http://schemas.microsoft.com/office/drawing/2014/main" id="{CFF36E0B-E4EE-4DA5-84B6-77D6DEDB8002}"/>
              </a:ext>
            </a:extLst>
          </p:cNvPr>
          <p:cNvSpPr>
            <a:spLocks xmlns:a="http://schemas.openxmlformats.org/drawingml/2006/main" noGrp="1"/>
          </p:cNvSpPr>
          <p:nvPr/>
        </p:nvSpPr>
        <p:spPr>
          <a:xfrm xmlns:a="http://schemas.openxmlformats.org/drawingml/2006/main">
            <a:off x="609600" y="68580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11111"/>
                </a:solidFill>
              </a:defRPr>
            </a:pPr>
            <a:r>
              <a:rPr sz="2625" b="1">
                <a:solidFill>
                  <a:srgbClr val="111111"/>
                </a:solidFill>
              </a:rPr>
              <a:t>RAG has two paths - prepare knowledge once, retrieve it many times.</a:t>
            </a:r>
          </a:p>
        </p:txBody>
      </p:sp>
      <p:sp>
        <p:nvSpPr>
          <p:cNvPr id="3" name="">
            <a:extLst xmlns:a="http://schemas.openxmlformats.org/drawingml/2006/main">
              <a:ext uri="{FF2B5EF4-FFF2-40B4-BE49-F238E27FC236}">
                <a16:creationId xmlns:a16="http://schemas.microsoft.com/office/drawing/2014/main" id="{33B06015-1411-4317-8B7C-E0A38C655115}"/>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8DEE5"/>
          </a:solidFill>
          <a:ln xmlns:a="http://schemas.openxmlformats.org/drawingml/2006/main" w="0">
            <a:solidFill>
              <a:srgbClr val="D8DEE5"/>
            </a:solidFill>
            <a:prstDash val="solid"/>
          </a:ln>
        </p:spPr>
      </p:sp>
      <p:sp>
        <p:nvSpPr>
          <p:cNvPr id="4" name="">
            <a:extLst xmlns:a="http://schemas.openxmlformats.org/drawingml/2006/main">
              <a:ext uri="{FF2B5EF4-FFF2-40B4-BE49-F238E27FC236}">
                <a16:creationId xmlns:a16="http://schemas.microsoft.com/office/drawing/2014/main" id="{23586B59-ECE6-4756-A3CA-FF90D86F844F}"/>
              </a:ext>
            </a:extLst>
          </p:cNvPr>
          <p:cNvSpPr>
            <a:spLocks xmlns:a="http://schemas.openxmlformats.org/drawingml/2006/main" noGrp="1"/>
          </p:cNvSpPr>
          <p:nvPr/>
        </p:nvSpPr>
        <p:spPr>
          <a:xfrm xmlns:a="http://schemas.openxmlformats.org/drawingml/2006/main">
            <a:off x="609600" y="6543675"/>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5E6670"/>
                </a:solidFill>
              </a:defRPr>
            </a:pPr>
            <a:r>
              <a:rPr sz="825" b="1">
                <a:solidFill>
                  <a:srgbClr val="5E6670"/>
                </a:solidFill>
              </a:rPr>
              <a:t>NICODEMUS CHAN  /  2</a:t>
            </a:r>
          </a:p>
        </p:txBody>
      </p:sp>
      <p:sp>
        <p:nvSpPr>
          <p:cNvPr id="5" name="">
            <a:extLst xmlns:a="http://schemas.openxmlformats.org/drawingml/2006/main">
              <a:ext uri="{FF2B5EF4-FFF2-40B4-BE49-F238E27FC236}">
                <a16:creationId xmlns:a16="http://schemas.microsoft.com/office/drawing/2014/main" id="{A6FB57AF-7475-4C69-8CF9-A50138225C52}"/>
              </a:ext>
            </a:extLst>
          </p:cNvPr>
          <p:cNvSpPr>
            <a:spLocks xmlns:a="http://schemas.openxmlformats.org/drawingml/2006/main" noGrp="1"/>
          </p:cNvSpPr>
          <p:nvPr/>
        </p:nvSpPr>
        <p:spPr>
          <a:xfrm xmlns:a="http://schemas.openxmlformats.org/drawingml/2006/main">
            <a:off x="609600" y="2047875"/>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3D8DFF"/>
                </a:solidFill>
              </a:defRPr>
            </a:pPr>
            <a:r>
              <a:rPr sz="1050" b="1">
                <a:solidFill>
                  <a:srgbClr val="3D8DFF"/>
                </a:solidFill>
              </a:rPr>
              <a:t>INGESTION</a:t>
            </a:r>
          </a:p>
        </p:txBody>
      </p:sp>
      <p:sp>
        <p:nvSpPr>
          <p:cNvPr id="6" name="">
            <a:extLst xmlns:a="http://schemas.openxmlformats.org/drawingml/2006/main">
              <a:ext uri="{FF2B5EF4-FFF2-40B4-BE49-F238E27FC236}">
                <a16:creationId xmlns:a16="http://schemas.microsoft.com/office/drawing/2014/main" id="{5E27C98B-A3A8-4C3B-B200-CD88739FCEED}"/>
              </a:ext>
            </a:extLst>
          </p:cNvPr>
          <p:cNvSpPr>
            <a:spLocks xmlns:a="http://schemas.openxmlformats.org/drawingml/2006/main" noGrp="1"/>
          </p:cNvSpPr>
          <p:nvPr/>
        </p:nvSpPr>
        <p:spPr>
          <a:xfrm xmlns:a="http://schemas.openxmlformats.org/drawingml/2006/main">
            <a:off x="609600" y="2476500"/>
            <a:ext cx="1809750" cy="819150"/>
          </a:xfrm>
          <a:prstGeom xmlns:a="http://schemas.openxmlformats.org/drawingml/2006/main" prst="roundRect">
            <a:avLst>
              <a:gd name="adj" fmla="val 13953"/>
            </a:avLst>
          </a:prstGeom>
          <a:solidFill xmlns:a="http://schemas.openxmlformats.org/drawingml/2006/main">
            <a:srgbClr val="F4F6F8"/>
          </a:solidFill>
          <a:ln xmlns:a="http://schemas.openxmlformats.org/drawingml/2006/main" w="14288">
            <a:solidFill>
              <a:srgbClr val="D8DEE5"/>
            </a:solidFill>
            <a:prstDash val="solid"/>
          </a:ln>
        </p:spPr>
      </p:sp>
      <p:sp>
        <p:nvSpPr>
          <p:cNvPr id="7" name="">
            <a:extLst xmlns:a="http://schemas.openxmlformats.org/drawingml/2006/main">
              <a:ext uri="{FF2B5EF4-FFF2-40B4-BE49-F238E27FC236}">
                <a16:creationId xmlns:a16="http://schemas.microsoft.com/office/drawing/2014/main" id="{D133EF80-9029-419B-AF94-5413D4DE337B}"/>
              </a:ext>
            </a:extLst>
          </p:cNvPr>
          <p:cNvSpPr>
            <a:spLocks xmlns:a="http://schemas.openxmlformats.org/drawingml/2006/main" noGrp="1"/>
          </p:cNvSpPr>
          <p:nvPr/>
        </p:nvSpPr>
        <p:spPr>
          <a:xfrm xmlns:a="http://schemas.openxmlformats.org/drawingml/2006/main">
            <a:off x="800100" y="27336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111111"/>
                </a:solidFill>
              </a:defRPr>
            </a:pPr>
            <a:r>
              <a:rPr sz="1575" b="1">
                <a:solidFill>
                  <a:srgbClr val="111111"/>
                </a:solidFill>
              </a:rPr>
              <a:t>Documents</a:t>
            </a:r>
          </a:p>
        </p:txBody>
      </p:sp>
      <p:sp>
        <p:nvSpPr>
          <p:cNvPr id="8" name="">
            <a:extLst xmlns:a="http://schemas.openxmlformats.org/drawingml/2006/main">
              <a:ext uri="{FF2B5EF4-FFF2-40B4-BE49-F238E27FC236}">
                <a16:creationId xmlns:a16="http://schemas.microsoft.com/office/drawing/2014/main" id="{C7D8D4DC-9B61-4439-937B-FE3E678D1B78}"/>
              </a:ext>
            </a:extLst>
          </p:cNvPr>
          <p:cNvSpPr>
            <a:spLocks xmlns:a="http://schemas.openxmlformats.org/drawingml/2006/main" noGrp="1"/>
          </p:cNvSpPr>
          <p:nvPr/>
        </p:nvSpPr>
        <p:spPr>
          <a:xfrm xmlns:a="http://schemas.openxmlformats.org/drawingml/2006/main">
            <a:off x="2990850" y="2476500"/>
            <a:ext cx="1809750" cy="819150"/>
          </a:xfrm>
          <a:prstGeom xmlns:a="http://schemas.openxmlformats.org/drawingml/2006/main" prst="roundRect">
            <a:avLst>
              <a:gd name="adj" fmla="val 13953"/>
            </a:avLst>
          </a:prstGeom>
          <a:solidFill xmlns:a="http://schemas.openxmlformats.org/drawingml/2006/main">
            <a:srgbClr val="F4F6F8"/>
          </a:solidFill>
          <a:ln xmlns:a="http://schemas.openxmlformats.org/drawingml/2006/main" w="14288">
            <a:solidFill>
              <a:srgbClr val="D8DEE5"/>
            </a:solidFill>
            <a:prstDash val="solid"/>
          </a:ln>
        </p:spPr>
      </p:sp>
      <p:sp>
        <p:nvSpPr>
          <p:cNvPr id="9" name="">
            <a:extLst xmlns:a="http://schemas.openxmlformats.org/drawingml/2006/main">
              <a:ext uri="{FF2B5EF4-FFF2-40B4-BE49-F238E27FC236}">
                <a16:creationId xmlns:a16="http://schemas.microsoft.com/office/drawing/2014/main" id="{E1354512-E747-49CC-8AA9-356F1F080CD1}"/>
              </a:ext>
            </a:extLst>
          </p:cNvPr>
          <p:cNvSpPr>
            <a:spLocks xmlns:a="http://schemas.openxmlformats.org/drawingml/2006/main" noGrp="1"/>
          </p:cNvSpPr>
          <p:nvPr/>
        </p:nvSpPr>
        <p:spPr>
          <a:xfrm xmlns:a="http://schemas.openxmlformats.org/drawingml/2006/main">
            <a:off x="3181350" y="27336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111111"/>
                </a:solidFill>
              </a:defRPr>
            </a:pPr>
            <a:r>
              <a:rPr sz="1575" b="1">
                <a:solidFill>
                  <a:srgbClr val="111111"/>
                </a:solidFill>
              </a:rPr>
              <a:t>Chunks</a:t>
            </a:r>
          </a:p>
        </p:txBody>
      </p:sp>
      <p:sp>
        <p:nvSpPr>
          <p:cNvPr id="10" name="">
            <a:extLst xmlns:a="http://schemas.openxmlformats.org/drawingml/2006/main">
              <a:ext uri="{FF2B5EF4-FFF2-40B4-BE49-F238E27FC236}">
                <a16:creationId xmlns:a16="http://schemas.microsoft.com/office/drawing/2014/main" id="{3421F7C5-07BD-452F-9585-095EA58E4142}"/>
              </a:ext>
            </a:extLst>
          </p:cNvPr>
          <p:cNvSpPr>
            <a:spLocks xmlns:a="http://schemas.openxmlformats.org/drawingml/2006/main" noGrp="1"/>
          </p:cNvSpPr>
          <p:nvPr/>
        </p:nvSpPr>
        <p:spPr>
          <a:xfrm xmlns:a="http://schemas.openxmlformats.org/drawingml/2006/main">
            <a:off x="5372100" y="2476500"/>
            <a:ext cx="1809750" cy="819150"/>
          </a:xfrm>
          <a:prstGeom xmlns:a="http://schemas.openxmlformats.org/drawingml/2006/main" prst="roundRect">
            <a:avLst>
              <a:gd name="adj" fmla="val 13953"/>
            </a:avLst>
          </a:prstGeom>
          <a:solidFill xmlns:a="http://schemas.openxmlformats.org/drawingml/2006/main">
            <a:srgbClr val="EAF5FF"/>
          </a:solidFill>
          <a:ln xmlns:a="http://schemas.openxmlformats.org/drawingml/2006/main" w="14288">
            <a:solidFill>
              <a:srgbClr val="6DCBF4"/>
            </a:solidFill>
            <a:prstDash val="solid"/>
          </a:ln>
        </p:spPr>
      </p:sp>
      <p:sp>
        <p:nvSpPr>
          <p:cNvPr id="11" name="">
            <a:extLst xmlns:a="http://schemas.openxmlformats.org/drawingml/2006/main">
              <a:ext uri="{FF2B5EF4-FFF2-40B4-BE49-F238E27FC236}">
                <a16:creationId xmlns:a16="http://schemas.microsoft.com/office/drawing/2014/main" id="{5A27ADB9-8BBF-4D93-BA3D-3AFD12FA4A16}"/>
              </a:ext>
            </a:extLst>
          </p:cNvPr>
          <p:cNvSpPr>
            <a:spLocks xmlns:a="http://schemas.openxmlformats.org/drawingml/2006/main" noGrp="1"/>
          </p:cNvSpPr>
          <p:nvPr/>
        </p:nvSpPr>
        <p:spPr>
          <a:xfrm xmlns:a="http://schemas.openxmlformats.org/drawingml/2006/main">
            <a:off x="5562600" y="27336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111111"/>
                </a:solidFill>
              </a:defRPr>
            </a:pPr>
            <a:r>
              <a:rPr sz="1575" b="1">
                <a:solidFill>
                  <a:srgbClr val="111111"/>
                </a:solidFill>
              </a:rPr>
              <a:t>Embeddings</a:t>
            </a:r>
          </a:p>
        </p:txBody>
      </p:sp>
      <p:sp>
        <p:nvSpPr>
          <p:cNvPr id="12" name="">
            <a:extLst xmlns:a="http://schemas.openxmlformats.org/drawingml/2006/main">
              <a:ext uri="{FF2B5EF4-FFF2-40B4-BE49-F238E27FC236}">
                <a16:creationId xmlns:a16="http://schemas.microsoft.com/office/drawing/2014/main" id="{3A48D845-498E-478A-8051-A86E9ADA3020}"/>
              </a:ext>
            </a:extLst>
          </p:cNvPr>
          <p:cNvSpPr>
            <a:spLocks xmlns:a="http://schemas.openxmlformats.org/drawingml/2006/main" noGrp="1"/>
          </p:cNvSpPr>
          <p:nvPr/>
        </p:nvSpPr>
        <p:spPr>
          <a:xfrm xmlns:a="http://schemas.openxmlformats.org/drawingml/2006/main">
            <a:off x="7753350" y="2476500"/>
            <a:ext cx="2381250" cy="819150"/>
          </a:xfrm>
          <a:prstGeom xmlns:a="http://schemas.openxmlformats.org/drawingml/2006/main" prst="roundRect">
            <a:avLst>
              <a:gd name="adj" fmla="val 13953"/>
            </a:avLst>
          </a:prstGeom>
          <a:solidFill xmlns:a="http://schemas.openxmlformats.org/drawingml/2006/main">
            <a:srgbClr val="EAF5FF"/>
          </a:solidFill>
          <a:ln xmlns:a="http://schemas.openxmlformats.org/drawingml/2006/main" w="14288">
            <a:solidFill>
              <a:srgbClr val="3D8DFF"/>
            </a:solidFill>
            <a:prstDash val="solid"/>
          </a:ln>
        </p:spPr>
      </p:sp>
      <p:sp>
        <p:nvSpPr>
          <p:cNvPr id="13" name="">
            <a:extLst xmlns:a="http://schemas.openxmlformats.org/drawingml/2006/main">
              <a:ext uri="{FF2B5EF4-FFF2-40B4-BE49-F238E27FC236}">
                <a16:creationId xmlns:a16="http://schemas.microsoft.com/office/drawing/2014/main" id="{40C2F219-1118-4622-8B43-8685E7B6D3F0}"/>
              </a:ext>
            </a:extLst>
          </p:cNvPr>
          <p:cNvSpPr>
            <a:spLocks xmlns:a="http://schemas.openxmlformats.org/drawingml/2006/main" noGrp="1"/>
          </p:cNvSpPr>
          <p:nvPr/>
        </p:nvSpPr>
        <p:spPr>
          <a:xfrm xmlns:a="http://schemas.openxmlformats.org/drawingml/2006/main">
            <a:off x="7991475" y="2733675"/>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111111"/>
                </a:solidFill>
              </a:defRPr>
            </a:pPr>
            <a:r>
              <a:rPr sz="1575" b="1">
                <a:solidFill>
                  <a:srgbClr val="111111"/>
                </a:solidFill>
              </a:rPr>
              <a:t>Vector index</a:t>
            </a:r>
          </a:p>
        </p:txBody>
      </p:sp>
      <p:cxnSp>
        <p:nvCxnSpPr>
          <p:cNvPr id="42" name=""/>
          <p:cNvCxnSpPr>
            <a:stCxn xmlns:a="http://schemas.openxmlformats.org/drawingml/2006/main" id="6" idx="3"/>
            <a:endCxn xmlns:a="http://schemas.openxmlformats.org/drawingml/2006/main" id="8" idx="1"/>
          </p:cNvCxnSpPr>
          <p:nvPr/>
        </p:nvCxnSpPr>
        <p:spPr>
          <a:xfrm xmlns:a="http://schemas.openxmlformats.org/drawingml/2006/main">
            <a:off x="2419350" y="2886075"/>
            <a:ext cx="571500" cy="0"/>
          </a:xfrm>
          <a:prstGeom xmlns:a="http://schemas.openxmlformats.org/drawingml/2006/main" prst="straightConnector1">
            <a:avLst/>
          </a:prstGeom>
          <a:ln xmlns:a="http://schemas.openxmlformats.org/drawingml/2006/main" w="19050">
            <a:solidFill>
              <a:srgbClr val="5E6670"/>
            </a:solidFill>
            <a:prstDash val="solid"/>
            <a:tailEnd type="arrow" w="med" len="med"/>
          </a:ln>
        </p:spPr>
      </p:cxnSp>
      <p:cxnSp>
        <p:nvCxnSpPr>
          <p:cNvPr id="43" name=""/>
          <p:cNvCxnSpPr>
            <a:stCxn xmlns:a="http://schemas.openxmlformats.org/drawingml/2006/main" id="8" idx="3"/>
            <a:endCxn xmlns:a="http://schemas.openxmlformats.org/drawingml/2006/main" id="10" idx="1"/>
          </p:cNvCxnSpPr>
          <p:nvPr/>
        </p:nvCxnSpPr>
        <p:spPr>
          <a:xfrm xmlns:a="http://schemas.openxmlformats.org/drawingml/2006/main">
            <a:off x="4800600" y="2886075"/>
            <a:ext cx="571500" cy="0"/>
          </a:xfrm>
          <a:prstGeom xmlns:a="http://schemas.openxmlformats.org/drawingml/2006/main" prst="straightConnector1">
            <a:avLst/>
          </a:prstGeom>
          <a:ln xmlns:a="http://schemas.openxmlformats.org/drawingml/2006/main" w="19050">
            <a:solidFill>
              <a:srgbClr val="5E6670"/>
            </a:solidFill>
            <a:prstDash val="solid"/>
            <a:tailEnd type="arrow" w="med" len="med"/>
          </a:ln>
        </p:spPr>
      </p:cxnSp>
      <p:cxnSp>
        <p:nvCxnSpPr>
          <p:cNvPr id="44" name=""/>
          <p:cNvCxnSpPr>
            <a:stCxn xmlns:a="http://schemas.openxmlformats.org/drawingml/2006/main" id="10" idx="3"/>
            <a:endCxn xmlns:a="http://schemas.openxmlformats.org/drawingml/2006/main" id="12" idx="1"/>
          </p:cNvCxnSpPr>
          <p:nvPr/>
        </p:nvCxnSpPr>
        <p:spPr>
          <a:xfrm xmlns:a="http://schemas.openxmlformats.org/drawingml/2006/main">
            <a:off x="7181850" y="2886075"/>
            <a:ext cx="571500" cy="0"/>
          </a:xfrm>
          <a:prstGeom xmlns:a="http://schemas.openxmlformats.org/drawingml/2006/main" prst="straightConnector1">
            <a:avLst/>
          </a:prstGeom>
          <a:ln xmlns:a="http://schemas.openxmlformats.org/drawingml/2006/main" w="19050">
            <a:solidFill>
              <a:srgbClr val="5E6670"/>
            </a:solidFill>
            <a:prstDash val="solid"/>
            <a:tailEnd type="arrow" w="med" len="med"/>
          </a:ln>
        </p:spPr>
      </p:cxnSp>
      <p:sp>
        <p:nvSpPr>
          <p:cNvPr id="17" name="">
            <a:extLst xmlns:a="http://schemas.openxmlformats.org/drawingml/2006/main">
              <a:ext uri="{FF2B5EF4-FFF2-40B4-BE49-F238E27FC236}">
                <a16:creationId xmlns:a16="http://schemas.microsoft.com/office/drawing/2014/main" id="{17B1D146-3D93-49F6-91E9-5EEC757A22CA}"/>
              </a:ext>
            </a:extLst>
          </p:cNvPr>
          <p:cNvSpPr>
            <a:spLocks xmlns:a="http://schemas.openxmlformats.org/drawingml/2006/main" noGrp="1"/>
          </p:cNvSpPr>
          <p:nvPr/>
        </p:nvSpPr>
        <p:spPr>
          <a:xfrm xmlns:a="http://schemas.openxmlformats.org/drawingml/2006/main">
            <a:off x="609600" y="3876675"/>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15825F"/>
                </a:solidFill>
              </a:defRPr>
            </a:pPr>
            <a:r>
              <a:rPr sz="1050" b="1">
                <a:solidFill>
                  <a:srgbClr val="15825F"/>
                </a:solidFill>
              </a:rPr>
              <a:t>QUERY</a:t>
            </a:r>
          </a:p>
        </p:txBody>
      </p:sp>
      <p:sp>
        <p:nvSpPr>
          <p:cNvPr id="18" name="">
            <a:extLst xmlns:a="http://schemas.openxmlformats.org/drawingml/2006/main">
              <a:ext uri="{FF2B5EF4-FFF2-40B4-BE49-F238E27FC236}">
                <a16:creationId xmlns:a16="http://schemas.microsoft.com/office/drawing/2014/main" id="{33F18E69-0B2C-4B67-AB8D-03F21339ADE3}"/>
              </a:ext>
            </a:extLst>
          </p:cNvPr>
          <p:cNvSpPr>
            <a:spLocks xmlns:a="http://schemas.openxmlformats.org/drawingml/2006/main" noGrp="1"/>
          </p:cNvSpPr>
          <p:nvPr/>
        </p:nvSpPr>
        <p:spPr>
          <a:xfrm xmlns:a="http://schemas.openxmlformats.org/drawingml/2006/main">
            <a:off x="609600" y="4305300"/>
            <a:ext cx="1809750" cy="819150"/>
          </a:xfrm>
          <a:prstGeom xmlns:a="http://schemas.openxmlformats.org/drawingml/2006/main" prst="roundRect">
            <a:avLst>
              <a:gd name="adj" fmla="val 13953"/>
            </a:avLst>
          </a:prstGeom>
          <a:solidFill xmlns:a="http://schemas.openxmlformats.org/drawingml/2006/main">
            <a:srgbClr val="F4F6F8"/>
          </a:solidFill>
          <a:ln xmlns:a="http://schemas.openxmlformats.org/drawingml/2006/main" w="14288">
            <a:solidFill>
              <a:srgbClr val="D8DEE5"/>
            </a:solidFill>
            <a:prstDash val="solid"/>
          </a:ln>
        </p:spPr>
      </p:sp>
      <p:sp>
        <p:nvSpPr>
          <p:cNvPr id="19" name="">
            <a:extLst xmlns:a="http://schemas.openxmlformats.org/drawingml/2006/main">
              <a:ext uri="{FF2B5EF4-FFF2-40B4-BE49-F238E27FC236}">
                <a16:creationId xmlns:a16="http://schemas.microsoft.com/office/drawing/2014/main" id="{3193A683-CF1F-4454-8ACE-8DD6D924EFEF}"/>
              </a:ext>
            </a:extLst>
          </p:cNvPr>
          <p:cNvSpPr>
            <a:spLocks xmlns:a="http://schemas.openxmlformats.org/drawingml/2006/main" noGrp="1"/>
          </p:cNvSpPr>
          <p:nvPr/>
        </p:nvSpPr>
        <p:spPr>
          <a:xfrm xmlns:a="http://schemas.openxmlformats.org/drawingml/2006/main">
            <a:off x="800100" y="45624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111111"/>
                </a:solidFill>
              </a:defRPr>
            </a:pPr>
            <a:r>
              <a:rPr sz="1575" b="1">
                <a:solidFill>
                  <a:srgbClr val="111111"/>
                </a:solidFill>
              </a:rPr>
              <a:t>Question</a:t>
            </a:r>
          </a:p>
        </p:txBody>
      </p:sp>
      <p:sp>
        <p:nvSpPr>
          <p:cNvPr id="20" name="">
            <a:extLst xmlns:a="http://schemas.openxmlformats.org/drawingml/2006/main">
              <a:ext uri="{FF2B5EF4-FFF2-40B4-BE49-F238E27FC236}">
                <a16:creationId xmlns:a16="http://schemas.microsoft.com/office/drawing/2014/main" id="{0E9FD675-0792-450E-B731-4FBF57C10BE1}"/>
              </a:ext>
            </a:extLst>
          </p:cNvPr>
          <p:cNvSpPr>
            <a:spLocks xmlns:a="http://schemas.openxmlformats.org/drawingml/2006/main" noGrp="1"/>
          </p:cNvSpPr>
          <p:nvPr/>
        </p:nvSpPr>
        <p:spPr>
          <a:xfrm xmlns:a="http://schemas.openxmlformats.org/drawingml/2006/main">
            <a:off x="2990850" y="4305300"/>
            <a:ext cx="1809750" cy="819150"/>
          </a:xfrm>
          <a:prstGeom xmlns:a="http://schemas.openxmlformats.org/drawingml/2006/main" prst="roundRect">
            <a:avLst>
              <a:gd name="adj" fmla="val 13953"/>
            </a:avLst>
          </a:prstGeom>
          <a:solidFill xmlns:a="http://schemas.openxmlformats.org/drawingml/2006/main">
            <a:srgbClr val="EAF5FF"/>
          </a:solidFill>
          <a:ln xmlns:a="http://schemas.openxmlformats.org/drawingml/2006/main" w="14288">
            <a:solidFill>
              <a:srgbClr val="6DCBF4"/>
            </a:solidFill>
            <a:prstDash val="solid"/>
          </a:ln>
        </p:spPr>
      </p:sp>
      <p:sp>
        <p:nvSpPr>
          <p:cNvPr id="21" name="">
            <a:extLst xmlns:a="http://schemas.openxmlformats.org/drawingml/2006/main">
              <a:ext uri="{FF2B5EF4-FFF2-40B4-BE49-F238E27FC236}">
                <a16:creationId xmlns:a16="http://schemas.microsoft.com/office/drawing/2014/main" id="{A9FB8621-666F-4E58-BDF1-4D23D377A57D}"/>
              </a:ext>
            </a:extLst>
          </p:cNvPr>
          <p:cNvSpPr>
            <a:spLocks xmlns:a="http://schemas.openxmlformats.org/drawingml/2006/main" noGrp="1"/>
          </p:cNvSpPr>
          <p:nvPr/>
        </p:nvSpPr>
        <p:spPr>
          <a:xfrm xmlns:a="http://schemas.openxmlformats.org/drawingml/2006/main">
            <a:off x="3181350" y="45624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111111"/>
                </a:solidFill>
              </a:defRPr>
            </a:pPr>
            <a:r>
              <a:rPr sz="1575" b="1">
                <a:solidFill>
                  <a:srgbClr val="111111"/>
                </a:solidFill>
              </a:rPr>
              <a:t>Embed</a:t>
            </a:r>
          </a:p>
        </p:txBody>
      </p:sp>
      <p:sp>
        <p:nvSpPr>
          <p:cNvPr id="22" name="">
            <a:extLst xmlns:a="http://schemas.openxmlformats.org/drawingml/2006/main">
              <a:ext uri="{FF2B5EF4-FFF2-40B4-BE49-F238E27FC236}">
                <a16:creationId xmlns:a16="http://schemas.microsoft.com/office/drawing/2014/main" id="{B3D49C22-42F9-472B-B2BA-732ACF872330}"/>
              </a:ext>
            </a:extLst>
          </p:cNvPr>
          <p:cNvSpPr>
            <a:spLocks xmlns:a="http://schemas.openxmlformats.org/drawingml/2006/main" noGrp="1"/>
          </p:cNvSpPr>
          <p:nvPr/>
        </p:nvSpPr>
        <p:spPr>
          <a:xfrm xmlns:a="http://schemas.openxmlformats.org/drawingml/2006/main">
            <a:off x="5372100" y="4305300"/>
            <a:ext cx="1809750" cy="819150"/>
          </a:xfrm>
          <a:prstGeom xmlns:a="http://schemas.openxmlformats.org/drawingml/2006/main" prst="roundRect">
            <a:avLst>
              <a:gd name="adj" fmla="val 13953"/>
            </a:avLst>
          </a:prstGeom>
          <a:solidFill xmlns:a="http://schemas.openxmlformats.org/drawingml/2006/main">
            <a:srgbClr val="EAF5FF"/>
          </a:solidFill>
          <a:ln xmlns:a="http://schemas.openxmlformats.org/drawingml/2006/main" w="14288">
            <a:solidFill>
              <a:srgbClr val="3D8DFF"/>
            </a:solidFill>
            <a:prstDash val="solid"/>
          </a:ln>
        </p:spPr>
      </p:sp>
      <p:sp>
        <p:nvSpPr>
          <p:cNvPr id="23" name="">
            <a:extLst xmlns:a="http://schemas.openxmlformats.org/drawingml/2006/main">
              <a:ext uri="{FF2B5EF4-FFF2-40B4-BE49-F238E27FC236}">
                <a16:creationId xmlns:a16="http://schemas.microsoft.com/office/drawing/2014/main" id="{FD18B226-63A9-4C63-ABBA-88AAC30298F1}"/>
              </a:ext>
            </a:extLst>
          </p:cNvPr>
          <p:cNvSpPr>
            <a:spLocks xmlns:a="http://schemas.openxmlformats.org/drawingml/2006/main" noGrp="1"/>
          </p:cNvSpPr>
          <p:nvPr/>
        </p:nvSpPr>
        <p:spPr>
          <a:xfrm xmlns:a="http://schemas.openxmlformats.org/drawingml/2006/main">
            <a:off x="5562600" y="45624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111111"/>
                </a:solidFill>
              </a:defRPr>
            </a:pPr>
            <a:r>
              <a:rPr sz="1575" b="1">
                <a:solidFill>
                  <a:srgbClr val="111111"/>
                </a:solidFill>
              </a:rPr>
              <a:t>Rank + filter</a:t>
            </a:r>
          </a:p>
        </p:txBody>
      </p:sp>
      <p:sp>
        <p:nvSpPr>
          <p:cNvPr id="24" name="">
            <a:extLst xmlns:a="http://schemas.openxmlformats.org/drawingml/2006/main">
              <a:ext uri="{FF2B5EF4-FFF2-40B4-BE49-F238E27FC236}">
                <a16:creationId xmlns:a16="http://schemas.microsoft.com/office/drawing/2014/main" id="{25A417EF-0C58-40CF-8C24-6B6C611AD29D}"/>
              </a:ext>
            </a:extLst>
          </p:cNvPr>
          <p:cNvSpPr>
            <a:spLocks xmlns:a="http://schemas.openxmlformats.org/drawingml/2006/main" noGrp="1"/>
          </p:cNvSpPr>
          <p:nvPr/>
        </p:nvSpPr>
        <p:spPr>
          <a:xfrm xmlns:a="http://schemas.openxmlformats.org/drawingml/2006/main">
            <a:off x="7753350" y="4305300"/>
            <a:ext cx="2381250" cy="819150"/>
          </a:xfrm>
          <a:prstGeom xmlns:a="http://schemas.openxmlformats.org/drawingml/2006/main" prst="roundRect">
            <a:avLst>
              <a:gd name="adj" fmla="val 13953"/>
            </a:avLst>
          </a:prstGeom>
          <a:solidFill xmlns:a="http://schemas.openxmlformats.org/drawingml/2006/main">
            <a:srgbClr val="111111"/>
          </a:solidFill>
          <a:ln xmlns:a="http://schemas.openxmlformats.org/drawingml/2006/main" w="14288">
            <a:solidFill>
              <a:srgbClr val="111111"/>
            </a:solidFill>
            <a:prstDash val="solid"/>
          </a:ln>
        </p:spPr>
      </p:sp>
      <p:sp>
        <p:nvSpPr>
          <p:cNvPr id="25" name="">
            <a:extLst xmlns:a="http://schemas.openxmlformats.org/drawingml/2006/main">
              <a:ext uri="{FF2B5EF4-FFF2-40B4-BE49-F238E27FC236}">
                <a16:creationId xmlns:a16="http://schemas.microsoft.com/office/drawing/2014/main" id="{C7005647-9D33-46EF-8A8A-40A10164A81C}"/>
              </a:ext>
            </a:extLst>
          </p:cNvPr>
          <p:cNvSpPr>
            <a:spLocks xmlns:a="http://schemas.openxmlformats.org/drawingml/2006/main" noGrp="1"/>
          </p:cNvSpPr>
          <p:nvPr/>
        </p:nvSpPr>
        <p:spPr>
          <a:xfrm xmlns:a="http://schemas.openxmlformats.org/drawingml/2006/main">
            <a:off x="7991475" y="4562475"/>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FFFFF"/>
                </a:solidFill>
              </a:defRPr>
            </a:pPr>
            <a:r>
              <a:rPr sz="1500" b="1">
                <a:solidFill>
                  <a:srgbClr val="FFFFFF"/>
                </a:solidFill>
              </a:rPr>
              <a:t>Evidence to model</a:t>
            </a:r>
          </a:p>
        </p:txBody>
      </p:sp>
      <p:cxnSp>
        <p:nvCxnSpPr>
          <p:cNvPr id="54" name=""/>
          <p:cNvCxnSpPr>
            <a:stCxn xmlns:a="http://schemas.openxmlformats.org/drawingml/2006/main" id="18" idx="3"/>
            <a:endCxn xmlns:a="http://schemas.openxmlformats.org/drawingml/2006/main" id="20" idx="1"/>
          </p:cNvCxnSpPr>
          <p:nvPr/>
        </p:nvCxnSpPr>
        <p:spPr>
          <a:xfrm xmlns:a="http://schemas.openxmlformats.org/drawingml/2006/main">
            <a:off x="2419350" y="4714875"/>
            <a:ext cx="571500" cy="0"/>
          </a:xfrm>
          <a:prstGeom xmlns:a="http://schemas.openxmlformats.org/drawingml/2006/main" prst="straightConnector1">
            <a:avLst/>
          </a:prstGeom>
          <a:ln xmlns:a="http://schemas.openxmlformats.org/drawingml/2006/main" w="19050">
            <a:solidFill>
              <a:srgbClr val="5E6670"/>
            </a:solidFill>
            <a:prstDash val="solid"/>
            <a:tailEnd type="arrow" w="med" len="med"/>
          </a:ln>
        </p:spPr>
      </p:cxnSp>
      <p:cxnSp>
        <p:nvCxnSpPr>
          <p:cNvPr id="55" name=""/>
          <p:cNvCxnSpPr>
            <a:stCxn xmlns:a="http://schemas.openxmlformats.org/drawingml/2006/main" id="20" idx="3"/>
            <a:endCxn xmlns:a="http://schemas.openxmlformats.org/drawingml/2006/main" id="22" idx="1"/>
          </p:cNvCxnSpPr>
          <p:nvPr/>
        </p:nvCxnSpPr>
        <p:spPr>
          <a:xfrm xmlns:a="http://schemas.openxmlformats.org/drawingml/2006/main">
            <a:off x="4800600" y="4714875"/>
            <a:ext cx="571500" cy="0"/>
          </a:xfrm>
          <a:prstGeom xmlns:a="http://schemas.openxmlformats.org/drawingml/2006/main" prst="straightConnector1">
            <a:avLst/>
          </a:prstGeom>
          <a:ln xmlns:a="http://schemas.openxmlformats.org/drawingml/2006/main" w="19050">
            <a:solidFill>
              <a:srgbClr val="5E6670"/>
            </a:solidFill>
            <a:prstDash val="solid"/>
            <a:tailEnd type="arrow" w="med" len="med"/>
          </a:ln>
        </p:spPr>
      </p:cxnSp>
      <p:cxnSp>
        <p:nvCxnSpPr>
          <p:cNvPr id="56" name=""/>
          <p:cNvCxnSpPr>
            <a:stCxn xmlns:a="http://schemas.openxmlformats.org/drawingml/2006/main" id="22" idx="3"/>
            <a:endCxn xmlns:a="http://schemas.openxmlformats.org/drawingml/2006/main" id="24" idx="1"/>
          </p:cNvCxnSpPr>
          <p:nvPr/>
        </p:nvCxnSpPr>
        <p:spPr>
          <a:xfrm xmlns:a="http://schemas.openxmlformats.org/drawingml/2006/main">
            <a:off x="7181850" y="4714875"/>
            <a:ext cx="571500" cy="0"/>
          </a:xfrm>
          <a:prstGeom xmlns:a="http://schemas.openxmlformats.org/drawingml/2006/main" prst="straightConnector1">
            <a:avLst/>
          </a:prstGeom>
          <a:ln xmlns:a="http://schemas.openxmlformats.org/drawingml/2006/main" w="19050">
            <a:solidFill>
              <a:srgbClr val="5E6670"/>
            </a:solidFill>
            <a:prstDash val="solid"/>
            <a:tailEnd type="arrow" w="med" len="med"/>
          </a:ln>
        </p:spPr>
      </p:cxnSp>
    </p:spTree>
    <p:extLst>
      <p:ext uri="{BB962C8B-B14F-4D97-AF65-F5344CB8AC3E}">
        <p14:creationId xmlns:p14="http://schemas.microsoft.com/office/powerpoint/2010/main" val="178233435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1038386-7251-4744-BA16-167AD3F0AFEF}"/>
              </a:ext>
            </a:extLst>
          </p:cNvPr>
          <p:cNvSpPr>
            <a:spLocks xmlns:a="http://schemas.openxmlformats.org/drawingml/2006/main" noGrp="1"/>
          </p:cNvSpPr>
          <p:nvPr/>
        </p:nvSpPr>
        <p:spPr>
          <a:xfrm xmlns:a="http://schemas.openxmlformats.org/drawingml/2006/main">
            <a:off x="609600" y="361950"/>
            <a:ext cx="838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D8DFF"/>
                </a:solidFill>
              </a:defRPr>
            </a:pPr>
            <a:r>
              <a:rPr sz="975" b="1">
                <a:solidFill>
                  <a:srgbClr val="3D8DFF"/>
                </a:solidFill>
              </a:rPr>
              <a:t>THE RETRIEVER PASSED ITS THRESHOLD - AND THE ANSWER STILL WAS NOT THERE</a:t>
            </a:r>
          </a:p>
        </p:txBody>
      </p:sp>
      <p:sp>
        <p:nvSpPr>
          <p:cNvPr id="2" name="">
            <a:extLst xmlns:a="http://schemas.openxmlformats.org/drawingml/2006/main">
              <a:ext uri="{FF2B5EF4-FFF2-40B4-BE49-F238E27FC236}">
                <a16:creationId xmlns:a16="http://schemas.microsoft.com/office/drawing/2014/main" id="{1F8F39F5-5C90-44B4-8A60-E70C9771FF2A}"/>
              </a:ext>
            </a:extLst>
          </p:cNvPr>
          <p:cNvSpPr>
            <a:spLocks xmlns:a="http://schemas.openxmlformats.org/drawingml/2006/main" noGrp="1"/>
          </p:cNvSpPr>
          <p:nvPr/>
        </p:nvSpPr>
        <p:spPr>
          <a:xfrm xmlns:a="http://schemas.openxmlformats.org/drawingml/2006/main">
            <a:off x="609600" y="68580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11111"/>
                </a:solidFill>
              </a:defRPr>
            </a:pPr>
            <a:r>
              <a:rPr sz="2625" b="1">
                <a:solidFill>
                  <a:srgbClr val="111111"/>
                </a:solidFill>
              </a:rPr>
              <a:t>A useful lab begins with a prediction, then reveals the evidence.</a:t>
            </a:r>
          </a:p>
        </p:txBody>
      </p:sp>
      <p:sp>
        <p:nvSpPr>
          <p:cNvPr id="3" name="">
            <a:extLst xmlns:a="http://schemas.openxmlformats.org/drawingml/2006/main">
              <a:ext uri="{FF2B5EF4-FFF2-40B4-BE49-F238E27FC236}">
                <a16:creationId xmlns:a16="http://schemas.microsoft.com/office/drawing/2014/main" id="{09EDD728-9C0E-421D-A5D5-5B4AAF8DB069}"/>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8DEE5"/>
          </a:solidFill>
          <a:ln xmlns:a="http://schemas.openxmlformats.org/drawingml/2006/main" w="0">
            <a:solidFill>
              <a:srgbClr val="D8DEE5"/>
            </a:solidFill>
            <a:prstDash val="solid"/>
          </a:ln>
        </p:spPr>
      </p:sp>
      <p:sp>
        <p:nvSpPr>
          <p:cNvPr id="4" name="">
            <a:extLst xmlns:a="http://schemas.openxmlformats.org/drawingml/2006/main">
              <a:ext uri="{FF2B5EF4-FFF2-40B4-BE49-F238E27FC236}">
                <a16:creationId xmlns:a16="http://schemas.microsoft.com/office/drawing/2014/main" id="{EA2A71FD-F7B7-4C22-947B-9C57614F7375}"/>
              </a:ext>
            </a:extLst>
          </p:cNvPr>
          <p:cNvSpPr>
            <a:spLocks xmlns:a="http://schemas.openxmlformats.org/drawingml/2006/main" noGrp="1"/>
          </p:cNvSpPr>
          <p:nvPr/>
        </p:nvSpPr>
        <p:spPr>
          <a:xfrm xmlns:a="http://schemas.openxmlformats.org/drawingml/2006/main">
            <a:off x="609600" y="6543675"/>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5E6670"/>
                </a:solidFill>
              </a:defRPr>
            </a:pPr>
            <a:r>
              <a:rPr sz="825" b="1">
                <a:solidFill>
                  <a:srgbClr val="5E6670"/>
                </a:solidFill>
              </a:rPr>
              <a:t>NICODEMUS CHAN  /  3</a:t>
            </a:r>
          </a:p>
        </p:txBody>
      </p:sp>
      <p:sp>
        <p:nvSpPr>
          <p:cNvPr id="5" name="">
            <a:extLst xmlns:a="http://schemas.openxmlformats.org/drawingml/2006/main">
              <a:ext uri="{FF2B5EF4-FFF2-40B4-BE49-F238E27FC236}">
                <a16:creationId xmlns:a16="http://schemas.microsoft.com/office/drawing/2014/main" id="{B9B6FA14-9BA2-41C2-AFAA-640CC7D2AE69}"/>
              </a:ext>
            </a:extLst>
          </p:cNvPr>
          <p:cNvSpPr>
            <a:spLocks xmlns:a="http://schemas.openxmlformats.org/drawingml/2006/main" noGrp="1"/>
          </p:cNvSpPr>
          <p:nvPr/>
        </p:nvSpPr>
        <p:spPr>
          <a:xfrm xmlns:a="http://schemas.openxmlformats.org/drawingml/2006/main">
            <a:off x="609600" y="2085975"/>
            <a:ext cx="1047750" cy="323850"/>
          </a:xfrm>
          <a:prstGeom xmlns:a="http://schemas.openxmlformats.org/drawingml/2006/main" prst="roundRect">
            <a:avLst>
              <a:gd name="adj" fmla="val 50000"/>
            </a:avLst>
          </a:prstGeom>
          <a:solidFill xmlns:a="http://schemas.openxmlformats.org/drawingml/2006/main">
            <a:srgbClr val="111111"/>
          </a:solidFill>
          <a:ln xmlns:a="http://schemas.openxmlformats.org/drawingml/2006/main" w="14288">
            <a:solidFill>
              <a:srgbClr val="111111"/>
            </a:solidFill>
            <a:prstDash val="solid"/>
          </a:ln>
        </p:spPr>
      </p:sp>
      <p:sp>
        <p:nvSpPr>
          <p:cNvPr id="6" name="">
            <a:extLst xmlns:a="http://schemas.openxmlformats.org/drawingml/2006/main">
              <a:ext uri="{FF2B5EF4-FFF2-40B4-BE49-F238E27FC236}">
                <a16:creationId xmlns:a16="http://schemas.microsoft.com/office/drawing/2014/main" id="{91BD9FAE-CAF6-4D47-A614-72665CB7EC35}"/>
              </a:ext>
            </a:extLst>
          </p:cNvPr>
          <p:cNvSpPr>
            <a:spLocks xmlns:a="http://schemas.openxmlformats.org/drawingml/2006/main" noGrp="1"/>
          </p:cNvSpPr>
          <p:nvPr/>
        </p:nvSpPr>
        <p:spPr>
          <a:xfrm xmlns:a="http://schemas.openxmlformats.org/drawingml/2006/main">
            <a:off x="685800" y="2133600"/>
            <a:ext cx="895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QUESTION</a:t>
            </a:r>
          </a:p>
        </p:txBody>
      </p:sp>
      <p:sp>
        <p:nvSpPr>
          <p:cNvPr id="7" name="">
            <a:extLst xmlns:a="http://schemas.openxmlformats.org/drawingml/2006/main">
              <a:ext uri="{FF2B5EF4-FFF2-40B4-BE49-F238E27FC236}">
                <a16:creationId xmlns:a16="http://schemas.microsoft.com/office/drawing/2014/main" id="{011A7673-8B71-4E32-B3B0-2F87E63B035D}"/>
              </a:ext>
            </a:extLst>
          </p:cNvPr>
          <p:cNvSpPr>
            <a:spLocks xmlns:a="http://schemas.openxmlformats.org/drawingml/2006/main" noGrp="1"/>
          </p:cNvSpPr>
          <p:nvPr/>
        </p:nvSpPr>
        <p:spPr>
          <a:xfrm xmlns:a="http://schemas.openxmlformats.org/drawingml/2006/main">
            <a:off x="609600" y="2552700"/>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11111"/>
                </a:solidFill>
              </a:defRPr>
            </a:pPr>
            <a:r>
              <a:rPr sz="2250" b="1">
                <a:solidFill>
                  <a:srgbClr val="111111"/>
                </a:solidFill>
              </a:rPr>
              <a:t>What is the maximum daily meal allowance during business travel?</a:t>
            </a:r>
          </a:p>
        </p:txBody>
      </p:sp>
      <p:sp>
        <p:nvSpPr>
          <p:cNvPr id="8" name="">
            <a:extLst xmlns:a="http://schemas.openxmlformats.org/drawingml/2006/main">
              <a:ext uri="{FF2B5EF4-FFF2-40B4-BE49-F238E27FC236}">
                <a16:creationId xmlns:a16="http://schemas.microsoft.com/office/drawing/2014/main" id="{D0AC33F1-B857-4FE7-9EB2-51A945D4F88C}"/>
              </a:ext>
            </a:extLst>
          </p:cNvPr>
          <p:cNvSpPr>
            <a:spLocks xmlns:a="http://schemas.openxmlformats.org/drawingml/2006/main" noGrp="1"/>
          </p:cNvSpPr>
          <p:nvPr/>
        </p:nvSpPr>
        <p:spPr>
          <a:xfrm xmlns:a="http://schemas.openxmlformats.org/drawingml/2006/main">
            <a:off x="609600" y="3590925"/>
            <a:ext cx="2857500" cy="1657350"/>
          </a:xfrm>
          <a:prstGeom xmlns:a="http://schemas.openxmlformats.org/drawingml/2006/main" prst="roundRect">
            <a:avLst>
              <a:gd name="adj" fmla="val 6897"/>
            </a:avLst>
          </a:prstGeom>
          <a:solidFill xmlns:a="http://schemas.openxmlformats.org/drawingml/2006/main">
            <a:srgbClr val="EAF5FF"/>
          </a:solidFill>
          <a:ln xmlns:a="http://schemas.openxmlformats.org/drawingml/2006/main" w="14288">
            <a:solidFill>
              <a:srgbClr val="6DCBF4"/>
            </a:solidFill>
            <a:prstDash val="solid"/>
          </a:ln>
        </p:spPr>
      </p:sp>
      <p:sp>
        <p:nvSpPr>
          <p:cNvPr id="9" name="">
            <a:extLst xmlns:a="http://schemas.openxmlformats.org/drawingml/2006/main">
              <a:ext uri="{FF2B5EF4-FFF2-40B4-BE49-F238E27FC236}">
                <a16:creationId xmlns:a16="http://schemas.microsoft.com/office/drawing/2014/main" id="{13605B34-102F-4FCB-8FF2-E119856EBB8C}"/>
              </a:ext>
            </a:extLst>
          </p:cNvPr>
          <p:cNvSpPr>
            <a:spLocks xmlns:a="http://schemas.openxmlformats.org/drawingml/2006/main" noGrp="1"/>
          </p:cNvSpPr>
          <p:nvPr/>
        </p:nvSpPr>
        <p:spPr>
          <a:xfrm xmlns:a="http://schemas.openxmlformats.org/drawingml/2006/main">
            <a:off x="838200" y="3838575"/>
            <a:ext cx="2400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3D8DFF"/>
                </a:solidFill>
              </a:defRPr>
            </a:pPr>
            <a:r>
              <a:rPr sz="3900" b="1">
                <a:solidFill>
                  <a:srgbClr val="3D8DFF"/>
                </a:solidFill>
              </a:rPr>
              <a:t>0.49</a:t>
            </a:r>
          </a:p>
        </p:txBody>
      </p:sp>
      <p:sp>
        <p:nvSpPr>
          <p:cNvPr id="10" name="">
            <a:extLst xmlns:a="http://schemas.openxmlformats.org/drawingml/2006/main">
              <a:ext uri="{FF2B5EF4-FFF2-40B4-BE49-F238E27FC236}">
                <a16:creationId xmlns:a16="http://schemas.microsoft.com/office/drawing/2014/main" id="{257A98E9-5066-4F28-BC2D-AC1BE62A9386}"/>
              </a:ext>
            </a:extLst>
          </p:cNvPr>
          <p:cNvSpPr>
            <a:spLocks xmlns:a="http://schemas.openxmlformats.org/drawingml/2006/main" noGrp="1"/>
          </p:cNvSpPr>
          <p:nvPr/>
        </p:nvSpPr>
        <p:spPr>
          <a:xfrm xmlns:a="http://schemas.openxmlformats.org/drawingml/2006/main">
            <a:off x="838200" y="45910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a:solidFill>
                  <a:srgbClr val="5E6670"/>
                </a:solidFill>
              </a:defRPr>
            </a:pPr>
            <a:r>
              <a:rPr sz="1275" b="0">
                <a:solidFill>
                  <a:srgbClr val="5E6670"/>
                </a:solidFill>
              </a:rPr>
              <a:t>top cosine score</a:t>
            </a:r>
          </a:p>
        </p:txBody>
      </p:sp>
      <p:sp>
        <p:nvSpPr>
          <p:cNvPr id="11" name="">
            <a:extLst xmlns:a="http://schemas.openxmlformats.org/drawingml/2006/main">
              <a:ext uri="{FF2B5EF4-FFF2-40B4-BE49-F238E27FC236}">
                <a16:creationId xmlns:a16="http://schemas.microsoft.com/office/drawing/2014/main" id="{F8C35415-76F9-436B-84F3-454FDFB4179D}"/>
              </a:ext>
            </a:extLst>
          </p:cNvPr>
          <p:cNvSpPr>
            <a:spLocks xmlns:a="http://schemas.openxmlformats.org/drawingml/2006/main" noGrp="1"/>
          </p:cNvSpPr>
          <p:nvPr/>
        </p:nvSpPr>
        <p:spPr>
          <a:xfrm xmlns:a="http://schemas.openxmlformats.org/drawingml/2006/main">
            <a:off x="3981450" y="3590925"/>
            <a:ext cx="2857500" cy="1657350"/>
          </a:xfrm>
          <a:prstGeom xmlns:a="http://schemas.openxmlformats.org/drawingml/2006/main" prst="roundRect">
            <a:avLst>
              <a:gd name="adj" fmla="val 6897"/>
            </a:avLst>
          </a:prstGeom>
          <a:solidFill xmlns:a="http://schemas.openxmlformats.org/drawingml/2006/main">
            <a:srgbClr val="F4F6F8"/>
          </a:solidFill>
          <a:ln xmlns:a="http://schemas.openxmlformats.org/drawingml/2006/main" w="14288">
            <a:solidFill>
              <a:srgbClr val="D8DEE5"/>
            </a:solidFill>
            <a:prstDash val="solid"/>
          </a:ln>
        </p:spPr>
      </p:sp>
      <p:sp>
        <p:nvSpPr>
          <p:cNvPr id="12" name="">
            <a:extLst xmlns:a="http://schemas.openxmlformats.org/drawingml/2006/main">
              <a:ext uri="{FF2B5EF4-FFF2-40B4-BE49-F238E27FC236}">
                <a16:creationId xmlns:a16="http://schemas.microsoft.com/office/drawing/2014/main" id="{432C0030-E1BA-48A3-BCDC-8FCB08816612}"/>
              </a:ext>
            </a:extLst>
          </p:cNvPr>
          <p:cNvSpPr>
            <a:spLocks xmlns:a="http://schemas.openxmlformats.org/drawingml/2006/main" noGrp="1"/>
          </p:cNvSpPr>
          <p:nvPr/>
        </p:nvSpPr>
        <p:spPr>
          <a:xfrm xmlns:a="http://schemas.openxmlformats.org/drawingml/2006/main">
            <a:off x="4210050" y="3838575"/>
            <a:ext cx="2400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111111"/>
                </a:solidFill>
              </a:defRPr>
            </a:pPr>
            <a:r>
              <a:rPr sz="3900" b="1">
                <a:solidFill>
                  <a:srgbClr val="111111"/>
                </a:solidFill>
              </a:rPr>
              <a:t>0.45</a:t>
            </a:r>
          </a:p>
        </p:txBody>
      </p:sp>
      <p:sp>
        <p:nvSpPr>
          <p:cNvPr id="13" name="">
            <a:extLst xmlns:a="http://schemas.openxmlformats.org/drawingml/2006/main">
              <a:ext uri="{FF2B5EF4-FFF2-40B4-BE49-F238E27FC236}">
                <a16:creationId xmlns:a16="http://schemas.microsoft.com/office/drawing/2014/main" id="{F82E5812-6EA0-4C88-98FD-EF58EF86ABF8}"/>
              </a:ext>
            </a:extLst>
          </p:cNvPr>
          <p:cNvSpPr>
            <a:spLocks xmlns:a="http://schemas.openxmlformats.org/drawingml/2006/main" noGrp="1"/>
          </p:cNvSpPr>
          <p:nvPr/>
        </p:nvSpPr>
        <p:spPr>
          <a:xfrm xmlns:a="http://schemas.openxmlformats.org/drawingml/2006/main">
            <a:off x="4210050" y="459105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a:solidFill>
                  <a:srgbClr val="5E6670"/>
                </a:solidFill>
              </a:defRPr>
            </a:pPr>
            <a:r>
              <a:rPr sz="1275" b="0">
                <a:solidFill>
                  <a:srgbClr val="5E6670"/>
                </a:solidFill>
              </a:rPr>
              <a:t>frozen threshold</a:t>
            </a:r>
          </a:p>
        </p:txBody>
      </p:sp>
      <p:sp>
        <p:nvSpPr>
          <p:cNvPr id="14" name="">
            <a:extLst xmlns:a="http://schemas.openxmlformats.org/drawingml/2006/main">
              <a:ext uri="{FF2B5EF4-FFF2-40B4-BE49-F238E27FC236}">
                <a16:creationId xmlns:a16="http://schemas.microsoft.com/office/drawing/2014/main" id="{E4BD840E-C0E3-4053-9440-8BCA060940E4}"/>
              </a:ext>
            </a:extLst>
          </p:cNvPr>
          <p:cNvSpPr>
            <a:spLocks xmlns:a="http://schemas.openxmlformats.org/drawingml/2006/main" noGrp="1"/>
          </p:cNvSpPr>
          <p:nvPr/>
        </p:nvSpPr>
        <p:spPr>
          <a:xfrm xmlns:a="http://schemas.openxmlformats.org/drawingml/2006/main">
            <a:off x="7353300" y="3590925"/>
            <a:ext cx="3848100" cy="1657350"/>
          </a:xfrm>
          <a:prstGeom xmlns:a="http://schemas.openxmlformats.org/drawingml/2006/main" prst="roundRect">
            <a:avLst>
              <a:gd name="adj" fmla="val 6897"/>
            </a:avLst>
          </a:prstGeom>
          <a:solidFill xmlns:a="http://schemas.openxmlformats.org/drawingml/2006/main">
            <a:srgbClr val="111111"/>
          </a:solidFill>
          <a:ln xmlns:a="http://schemas.openxmlformats.org/drawingml/2006/main" w="14288">
            <a:solidFill>
              <a:srgbClr val="111111"/>
            </a:solidFill>
            <a:prstDash val="solid"/>
          </a:ln>
        </p:spPr>
      </p:sp>
      <p:sp>
        <p:nvSpPr>
          <p:cNvPr id="15" name="">
            <a:extLst xmlns:a="http://schemas.openxmlformats.org/drawingml/2006/main">
              <a:ext uri="{FF2B5EF4-FFF2-40B4-BE49-F238E27FC236}">
                <a16:creationId xmlns:a16="http://schemas.microsoft.com/office/drawing/2014/main" id="{BECC0289-912F-4945-8505-9F5A00D02808}"/>
              </a:ext>
            </a:extLst>
          </p:cNvPr>
          <p:cNvSpPr>
            <a:spLocks xmlns:a="http://schemas.openxmlformats.org/drawingml/2006/main" noGrp="1"/>
          </p:cNvSpPr>
          <p:nvPr/>
        </p:nvSpPr>
        <p:spPr>
          <a:xfrm xmlns:a="http://schemas.openxmlformats.org/drawingml/2006/main">
            <a:off x="7620000" y="3895725"/>
            <a:ext cx="3314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FFFFFF"/>
                </a:solidFill>
              </a:defRPr>
            </a:pPr>
            <a:r>
              <a:rPr sz="2025" b="1">
                <a:solidFill>
                  <a:srgbClr val="FFFFFF"/>
                </a:solidFill>
              </a:rPr>
              <a:t>travel_policy.txt</a:t>
            </a:r>
          </a:p>
        </p:txBody>
      </p:sp>
      <p:sp>
        <p:nvSpPr>
          <p:cNvPr id="16" name="">
            <a:extLst xmlns:a="http://schemas.openxmlformats.org/drawingml/2006/main">
              <a:ext uri="{FF2B5EF4-FFF2-40B4-BE49-F238E27FC236}">
                <a16:creationId xmlns:a16="http://schemas.microsoft.com/office/drawing/2014/main" id="{36057423-E096-4D3A-843A-B2D3AAFCA7BB}"/>
              </a:ext>
            </a:extLst>
          </p:cNvPr>
          <p:cNvSpPr>
            <a:spLocks xmlns:a="http://schemas.openxmlformats.org/drawingml/2006/main" noGrp="1"/>
          </p:cNvSpPr>
          <p:nvPr/>
        </p:nvSpPr>
        <p:spPr>
          <a:xfrm xmlns:a="http://schemas.openxmlformats.org/drawingml/2006/main">
            <a:off x="7620000" y="4486275"/>
            <a:ext cx="33147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6DCBF4"/>
                </a:solidFill>
              </a:defRPr>
            </a:pPr>
            <a:r>
              <a:rPr sz="1275" b="1">
                <a:solidFill>
                  <a:srgbClr val="6DCBF4"/>
                </a:solidFill>
              </a:rPr>
              <a:t>retrieved - but amount unspecified</a:t>
            </a:r>
          </a:p>
        </p:txBody>
      </p:sp>
      <p:sp>
        <p:nvSpPr>
          <p:cNvPr id="17" name="">
            <a:extLst xmlns:a="http://schemas.openxmlformats.org/drawingml/2006/main">
              <a:ext uri="{FF2B5EF4-FFF2-40B4-BE49-F238E27FC236}">
                <a16:creationId xmlns:a16="http://schemas.microsoft.com/office/drawing/2014/main" id="{208B1FEA-DF0A-4704-921A-A9DF1C2396A5}"/>
              </a:ext>
            </a:extLst>
          </p:cNvPr>
          <p:cNvSpPr>
            <a:spLocks xmlns:a="http://schemas.openxmlformats.org/drawingml/2006/main" noGrp="1"/>
          </p:cNvSpPr>
          <p:nvPr/>
        </p:nvSpPr>
        <p:spPr>
          <a:xfrm xmlns:a="http://schemas.openxmlformats.org/drawingml/2006/main">
            <a:off x="3600450" y="4114800"/>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325" b="1">
                <a:solidFill>
                  <a:srgbClr val="15825F"/>
                </a:solidFill>
              </a:defRPr>
            </a:pPr>
            <a:r>
              <a:rPr sz="2325" b="1">
                <a:solidFill>
                  <a:srgbClr val="15825F"/>
                </a:solidFill>
              </a:rPr>
              <a:t>&gt;</a:t>
            </a:r>
          </a:p>
        </p:txBody>
      </p:sp>
      <p:sp>
        <p:nvSpPr>
          <p:cNvPr id="18" name="">
            <a:extLst xmlns:a="http://schemas.openxmlformats.org/drawingml/2006/main">
              <a:ext uri="{FF2B5EF4-FFF2-40B4-BE49-F238E27FC236}">
                <a16:creationId xmlns:a16="http://schemas.microsoft.com/office/drawing/2014/main" id="{043FE986-C9AF-4225-94AC-2EA917A1AE6F}"/>
              </a:ext>
            </a:extLst>
          </p:cNvPr>
          <p:cNvSpPr>
            <a:spLocks xmlns:a="http://schemas.openxmlformats.org/drawingml/2006/main" noGrp="1"/>
          </p:cNvSpPr>
          <p:nvPr/>
        </p:nvSpPr>
        <p:spPr>
          <a:xfrm xmlns:a="http://schemas.openxmlformats.org/drawingml/2006/main">
            <a:off x="6953250" y="4114800"/>
            <a:ext cx="323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5E6670"/>
                </a:solidFill>
              </a:defRPr>
            </a:pPr>
            <a:r>
              <a:rPr sz="2025" b="1">
                <a:solidFill>
                  <a:srgbClr val="5E6670"/>
                </a:solidFill>
              </a:rPr>
              <a:t>-&gt;</a:t>
            </a:r>
          </a:p>
        </p:txBody>
      </p:sp>
    </p:spTree>
    <p:extLst>
      <p:ext uri="{BB962C8B-B14F-4D97-AF65-F5344CB8AC3E}">
        <p14:creationId xmlns:p14="http://schemas.microsoft.com/office/powerpoint/2010/main" val="153683392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F185A97-70D2-4CD1-95A8-0D50E27EBE71}"/>
              </a:ext>
            </a:extLst>
          </p:cNvPr>
          <p:cNvSpPr>
            <a:spLocks xmlns:a="http://schemas.openxmlformats.org/drawingml/2006/main" noGrp="1"/>
          </p:cNvSpPr>
          <p:nvPr/>
        </p:nvSpPr>
        <p:spPr>
          <a:xfrm xmlns:a="http://schemas.openxmlformats.org/drawingml/2006/main">
            <a:off x="609600" y="361950"/>
            <a:ext cx="838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D8DFF"/>
                </a:solidFill>
              </a:defRPr>
            </a:pPr>
            <a:r>
              <a:rPr sz="975" b="1">
                <a:solidFill>
                  <a:srgbClr val="3D8DFF"/>
                </a:solidFill>
              </a:rPr>
              <a:t>RELEVANT IS NOT THE SAME AS SUFFICIENT</a:t>
            </a:r>
          </a:p>
        </p:txBody>
      </p:sp>
      <p:sp>
        <p:nvSpPr>
          <p:cNvPr id="2" name="">
            <a:extLst xmlns:a="http://schemas.openxmlformats.org/drawingml/2006/main">
              <a:ext uri="{FF2B5EF4-FFF2-40B4-BE49-F238E27FC236}">
                <a16:creationId xmlns:a16="http://schemas.microsoft.com/office/drawing/2014/main" id="{F2C549AD-74C7-4ECE-8213-9028DBC81143}"/>
              </a:ext>
            </a:extLst>
          </p:cNvPr>
          <p:cNvSpPr>
            <a:spLocks xmlns:a="http://schemas.openxmlformats.org/drawingml/2006/main" noGrp="1"/>
          </p:cNvSpPr>
          <p:nvPr/>
        </p:nvSpPr>
        <p:spPr>
          <a:xfrm xmlns:a="http://schemas.openxmlformats.org/drawingml/2006/main">
            <a:off x="609600" y="68580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11111"/>
                </a:solidFill>
              </a:defRPr>
            </a:pPr>
            <a:r>
              <a:rPr sz="2625" b="1">
                <a:solidFill>
                  <a:srgbClr val="111111"/>
                </a:solidFill>
              </a:rPr>
              <a:t>The retriever answered 'where should I look?' - not 'is the requested fact present?'</a:t>
            </a:r>
          </a:p>
        </p:txBody>
      </p:sp>
      <p:sp>
        <p:nvSpPr>
          <p:cNvPr id="3" name="">
            <a:extLst xmlns:a="http://schemas.openxmlformats.org/drawingml/2006/main">
              <a:ext uri="{FF2B5EF4-FFF2-40B4-BE49-F238E27FC236}">
                <a16:creationId xmlns:a16="http://schemas.microsoft.com/office/drawing/2014/main" id="{27E7A231-058E-4987-9EAF-D892C19DA7ED}"/>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8DEE5"/>
          </a:solidFill>
          <a:ln xmlns:a="http://schemas.openxmlformats.org/drawingml/2006/main" w="0">
            <a:solidFill>
              <a:srgbClr val="D8DEE5"/>
            </a:solidFill>
            <a:prstDash val="solid"/>
          </a:ln>
        </p:spPr>
      </p:sp>
      <p:sp>
        <p:nvSpPr>
          <p:cNvPr id="4" name="">
            <a:extLst xmlns:a="http://schemas.openxmlformats.org/drawingml/2006/main">
              <a:ext uri="{FF2B5EF4-FFF2-40B4-BE49-F238E27FC236}">
                <a16:creationId xmlns:a16="http://schemas.microsoft.com/office/drawing/2014/main" id="{945A3A73-803D-4449-99AF-F14E684F8359}"/>
              </a:ext>
            </a:extLst>
          </p:cNvPr>
          <p:cNvSpPr>
            <a:spLocks xmlns:a="http://schemas.openxmlformats.org/drawingml/2006/main" noGrp="1"/>
          </p:cNvSpPr>
          <p:nvPr/>
        </p:nvSpPr>
        <p:spPr>
          <a:xfrm xmlns:a="http://schemas.openxmlformats.org/drawingml/2006/main">
            <a:off x="609600" y="6543675"/>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5E6670"/>
                </a:solidFill>
              </a:defRPr>
            </a:pPr>
            <a:r>
              <a:rPr sz="825" b="1">
                <a:solidFill>
                  <a:srgbClr val="5E6670"/>
                </a:solidFill>
              </a:rPr>
              <a:t>NICODEMUS CHAN  /  4</a:t>
            </a:r>
          </a:p>
        </p:txBody>
      </p:sp>
      <p:sp>
        <p:nvSpPr>
          <p:cNvPr id="5" name="">
            <a:extLst xmlns:a="http://schemas.openxmlformats.org/drawingml/2006/main">
              <a:ext uri="{FF2B5EF4-FFF2-40B4-BE49-F238E27FC236}">
                <a16:creationId xmlns:a16="http://schemas.microsoft.com/office/drawing/2014/main" id="{56EC38A0-F398-486C-8CA5-6AEAF2A549F9}"/>
              </a:ext>
            </a:extLst>
          </p:cNvPr>
          <p:cNvSpPr>
            <a:spLocks xmlns:a="http://schemas.openxmlformats.org/drawingml/2006/main" noGrp="1"/>
          </p:cNvSpPr>
          <p:nvPr/>
        </p:nvSpPr>
        <p:spPr>
          <a:xfrm xmlns:a="http://schemas.openxmlformats.org/drawingml/2006/main">
            <a:off x="609600" y="2238375"/>
            <a:ext cx="5810250" cy="3238500"/>
          </a:xfrm>
          <a:prstGeom xmlns:a="http://schemas.openxmlformats.org/drawingml/2006/main" prst="roundRect">
            <a:avLst>
              <a:gd name="adj" fmla="val 3529"/>
            </a:avLst>
          </a:prstGeom>
          <a:solidFill xmlns:a="http://schemas.openxmlformats.org/drawingml/2006/main">
            <a:srgbClr val="F4F6F8"/>
          </a:solidFill>
          <a:ln xmlns:a="http://schemas.openxmlformats.org/drawingml/2006/main" w="14288">
            <a:solidFill>
              <a:srgbClr val="D8DEE5"/>
            </a:solidFill>
            <a:prstDash val="solid"/>
          </a:ln>
        </p:spPr>
      </p:sp>
      <p:sp>
        <p:nvSpPr>
          <p:cNvPr id="6" name="">
            <a:extLst xmlns:a="http://schemas.openxmlformats.org/drawingml/2006/main">
              <a:ext uri="{FF2B5EF4-FFF2-40B4-BE49-F238E27FC236}">
                <a16:creationId xmlns:a16="http://schemas.microsoft.com/office/drawing/2014/main" id="{A3F0AD22-7D72-43E3-8D96-928BEFD0247E}"/>
              </a:ext>
            </a:extLst>
          </p:cNvPr>
          <p:cNvSpPr>
            <a:spLocks xmlns:a="http://schemas.openxmlformats.org/drawingml/2006/main" noGrp="1"/>
          </p:cNvSpPr>
          <p:nvPr/>
        </p:nvSpPr>
        <p:spPr>
          <a:xfrm xmlns:a="http://schemas.openxmlformats.org/drawingml/2006/main">
            <a:off x="876300" y="247650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5E6670"/>
                </a:solidFill>
              </a:defRPr>
            </a:pPr>
            <a:r>
              <a:rPr sz="1050" b="1">
                <a:solidFill>
                  <a:srgbClr val="5E6670"/>
                </a:solidFill>
              </a:rPr>
              <a:t>HELD-OUT CONFUSION COUNTS</a:t>
            </a:r>
          </a:p>
        </p:txBody>
      </p:sp>
      <p:sp>
        <p:nvSpPr>
          <p:cNvPr id="7" name="">
            <a:extLst xmlns:a="http://schemas.openxmlformats.org/drawingml/2006/main">
              <a:ext uri="{FF2B5EF4-FFF2-40B4-BE49-F238E27FC236}">
                <a16:creationId xmlns:a16="http://schemas.microsoft.com/office/drawing/2014/main" id="{BABA5D91-C481-4AB8-948A-582C4FEB26DF}"/>
              </a:ext>
            </a:extLst>
          </p:cNvPr>
          <p:cNvSpPr>
            <a:spLocks xmlns:a="http://schemas.openxmlformats.org/drawingml/2006/main" noGrp="1"/>
          </p:cNvSpPr>
          <p:nvPr/>
        </p:nvSpPr>
        <p:spPr>
          <a:xfrm xmlns:a="http://schemas.openxmlformats.org/drawingml/2006/main">
            <a:off x="876300" y="2981325"/>
            <a:ext cx="7239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5825F"/>
                </a:solidFill>
              </a:defRPr>
            </a:pPr>
            <a:r>
              <a:rPr sz="2850" b="1">
                <a:solidFill>
                  <a:srgbClr val="15825F"/>
                </a:solidFill>
              </a:rPr>
              <a:t>3</a:t>
            </a:r>
          </a:p>
        </p:txBody>
      </p:sp>
      <p:sp>
        <p:nvSpPr>
          <p:cNvPr id="8" name="">
            <a:extLst xmlns:a="http://schemas.openxmlformats.org/drawingml/2006/main">
              <a:ext uri="{FF2B5EF4-FFF2-40B4-BE49-F238E27FC236}">
                <a16:creationId xmlns:a16="http://schemas.microsoft.com/office/drawing/2014/main" id="{7686EB1F-13DA-4275-90C8-DB899ACD8AF8}"/>
              </a:ext>
            </a:extLst>
          </p:cNvPr>
          <p:cNvSpPr>
            <a:spLocks xmlns:a="http://schemas.openxmlformats.org/drawingml/2006/main" noGrp="1"/>
          </p:cNvSpPr>
          <p:nvPr/>
        </p:nvSpPr>
        <p:spPr>
          <a:xfrm xmlns:a="http://schemas.openxmlformats.org/drawingml/2006/main">
            <a:off x="1600200" y="3095625"/>
            <a:ext cx="1571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11111"/>
                </a:solidFill>
              </a:defRPr>
            </a:pPr>
            <a:r>
              <a:rPr sz="1275" b="1">
                <a:solidFill>
                  <a:srgbClr val="111111"/>
                </a:solidFill>
              </a:rPr>
              <a:t>true positive</a:t>
            </a:r>
          </a:p>
        </p:txBody>
      </p:sp>
      <p:sp>
        <p:nvSpPr>
          <p:cNvPr id="9" name="">
            <a:extLst xmlns:a="http://schemas.openxmlformats.org/drawingml/2006/main">
              <a:ext uri="{FF2B5EF4-FFF2-40B4-BE49-F238E27FC236}">
                <a16:creationId xmlns:a16="http://schemas.microsoft.com/office/drawing/2014/main" id="{6B2BC5C9-E584-4165-9A93-244B9892FA4A}"/>
              </a:ext>
            </a:extLst>
          </p:cNvPr>
          <p:cNvSpPr>
            <a:spLocks xmlns:a="http://schemas.openxmlformats.org/drawingml/2006/main" noGrp="1"/>
          </p:cNvSpPr>
          <p:nvPr/>
        </p:nvSpPr>
        <p:spPr>
          <a:xfrm xmlns:a="http://schemas.openxmlformats.org/drawingml/2006/main">
            <a:off x="3505200" y="2981325"/>
            <a:ext cx="7239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D64B4B"/>
                </a:solidFill>
              </a:defRPr>
            </a:pPr>
            <a:r>
              <a:rPr sz="2850" b="1">
                <a:solidFill>
                  <a:srgbClr val="D64B4B"/>
                </a:solidFill>
              </a:rPr>
              <a:t>1</a:t>
            </a:r>
          </a:p>
        </p:txBody>
      </p:sp>
      <p:sp>
        <p:nvSpPr>
          <p:cNvPr id="10" name="">
            <a:extLst xmlns:a="http://schemas.openxmlformats.org/drawingml/2006/main">
              <a:ext uri="{FF2B5EF4-FFF2-40B4-BE49-F238E27FC236}">
                <a16:creationId xmlns:a16="http://schemas.microsoft.com/office/drawing/2014/main" id="{525181D4-26A4-4479-A833-332B596B8F50}"/>
              </a:ext>
            </a:extLst>
          </p:cNvPr>
          <p:cNvSpPr>
            <a:spLocks xmlns:a="http://schemas.openxmlformats.org/drawingml/2006/main" noGrp="1"/>
          </p:cNvSpPr>
          <p:nvPr/>
        </p:nvSpPr>
        <p:spPr>
          <a:xfrm xmlns:a="http://schemas.openxmlformats.org/drawingml/2006/main">
            <a:off x="4229100" y="3095625"/>
            <a:ext cx="1571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11111"/>
                </a:solidFill>
              </a:defRPr>
            </a:pPr>
            <a:r>
              <a:rPr sz="1275" b="1">
                <a:solidFill>
                  <a:srgbClr val="111111"/>
                </a:solidFill>
              </a:rPr>
              <a:t>false positive</a:t>
            </a:r>
          </a:p>
        </p:txBody>
      </p:sp>
      <p:sp>
        <p:nvSpPr>
          <p:cNvPr id="11" name="">
            <a:extLst xmlns:a="http://schemas.openxmlformats.org/drawingml/2006/main">
              <a:ext uri="{FF2B5EF4-FFF2-40B4-BE49-F238E27FC236}">
                <a16:creationId xmlns:a16="http://schemas.microsoft.com/office/drawing/2014/main" id="{A74FB041-DEE7-4B5A-B8A9-C21B184512A3}"/>
              </a:ext>
            </a:extLst>
          </p:cNvPr>
          <p:cNvSpPr>
            <a:spLocks xmlns:a="http://schemas.openxmlformats.org/drawingml/2006/main" noGrp="1"/>
          </p:cNvSpPr>
          <p:nvPr/>
        </p:nvSpPr>
        <p:spPr>
          <a:xfrm xmlns:a="http://schemas.openxmlformats.org/drawingml/2006/main">
            <a:off x="876300" y="4048125"/>
            <a:ext cx="7239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3D8DFF"/>
                </a:solidFill>
              </a:defRPr>
            </a:pPr>
            <a:r>
              <a:rPr sz="2850" b="1">
                <a:solidFill>
                  <a:srgbClr val="3D8DFF"/>
                </a:solidFill>
              </a:rPr>
              <a:t>2</a:t>
            </a:r>
          </a:p>
        </p:txBody>
      </p:sp>
      <p:sp>
        <p:nvSpPr>
          <p:cNvPr id="12" name="">
            <a:extLst xmlns:a="http://schemas.openxmlformats.org/drawingml/2006/main">
              <a:ext uri="{FF2B5EF4-FFF2-40B4-BE49-F238E27FC236}">
                <a16:creationId xmlns:a16="http://schemas.microsoft.com/office/drawing/2014/main" id="{4D6EA637-910C-4A86-8607-AB1DBA5F165C}"/>
              </a:ext>
            </a:extLst>
          </p:cNvPr>
          <p:cNvSpPr>
            <a:spLocks xmlns:a="http://schemas.openxmlformats.org/drawingml/2006/main" noGrp="1"/>
          </p:cNvSpPr>
          <p:nvPr/>
        </p:nvSpPr>
        <p:spPr>
          <a:xfrm xmlns:a="http://schemas.openxmlformats.org/drawingml/2006/main">
            <a:off x="1600200" y="4162425"/>
            <a:ext cx="1571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11111"/>
                </a:solidFill>
              </a:defRPr>
            </a:pPr>
            <a:r>
              <a:rPr sz="1275" b="1">
                <a:solidFill>
                  <a:srgbClr val="111111"/>
                </a:solidFill>
              </a:rPr>
              <a:t>true negative</a:t>
            </a:r>
          </a:p>
        </p:txBody>
      </p:sp>
      <p:sp>
        <p:nvSpPr>
          <p:cNvPr id="13" name="">
            <a:extLst xmlns:a="http://schemas.openxmlformats.org/drawingml/2006/main">
              <a:ext uri="{FF2B5EF4-FFF2-40B4-BE49-F238E27FC236}">
                <a16:creationId xmlns:a16="http://schemas.microsoft.com/office/drawing/2014/main" id="{973D16E0-6780-4B76-9B30-F6706B84C25D}"/>
              </a:ext>
            </a:extLst>
          </p:cNvPr>
          <p:cNvSpPr>
            <a:spLocks xmlns:a="http://schemas.openxmlformats.org/drawingml/2006/main" noGrp="1"/>
          </p:cNvSpPr>
          <p:nvPr/>
        </p:nvSpPr>
        <p:spPr>
          <a:xfrm xmlns:a="http://schemas.openxmlformats.org/drawingml/2006/main">
            <a:off x="3505200" y="4048125"/>
            <a:ext cx="7239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5E6670"/>
                </a:solidFill>
              </a:defRPr>
            </a:pPr>
            <a:r>
              <a:rPr sz="2850" b="1">
                <a:solidFill>
                  <a:srgbClr val="5E6670"/>
                </a:solidFill>
              </a:rPr>
              <a:t>0</a:t>
            </a:r>
          </a:p>
        </p:txBody>
      </p:sp>
      <p:sp>
        <p:nvSpPr>
          <p:cNvPr id="14" name="">
            <a:extLst xmlns:a="http://schemas.openxmlformats.org/drawingml/2006/main">
              <a:ext uri="{FF2B5EF4-FFF2-40B4-BE49-F238E27FC236}">
                <a16:creationId xmlns:a16="http://schemas.microsoft.com/office/drawing/2014/main" id="{AFD1BE99-1798-48D6-8599-006AAAB18865}"/>
              </a:ext>
            </a:extLst>
          </p:cNvPr>
          <p:cNvSpPr>
            <a:spLocks xmlns:a="http://schemas.openxmlformats.org/drawingml/2006/main" noGrp="1"/>
          </p:cNvSpPr>
          <p:nvPr/>
        </p:nvSpPr>
        <p:spPr>
          <a:xfrm xmlns:a="http://schemas.openxmlformats.org/drawingml/2006/main">
            <a:off x="4229100" y="4162425"/>
            <a:ext cx="1571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11111"/>
                </a:solidFill>
              </a:defRPr>
            </a:pPr>
            <a:r>
              <a:rPr sz="1275" b="1">
                <a:solidFill>
                  <a:srgbClr val="111111"/>
                </a:solidFill>
              </a:rPr>
              <a:t>false negative</a:t>
            </a:r>
          </a:p>
        </p:txBody>
      </p:sp>
      <p:sp>
        <p:nvSpPr>
          <p:cNvPr id="15" name="">
            <a:extLst xmlns:a="http://schemas.openxmlformats.org/drawingml/2006/main">
              <a:ext uri="{FF2B5EF4-FFF2-40B4-BE49-F238E27FC236}">
                <a16:creationId xmlns:a16="http://schemas.microsoft.com/office/drawing/2014/main" id="{EEFAECE2-B565-49E2-8AF4-1BFF22DC7B2B}"/>
              </a:ext>
            </a:extLst>
          </p:cNvPr>
          <p:cNvSpPr>
            <a:spLocks xmlns:a="http://schemas.openxmlformats.org/drawingml/2006/main" noGrp="1"/>
          </p:cNvSpPr>
          <p:nvPr/>
        </p:nvSpPr>
        <p:spPr>
          <a:xfrm xmlns:a="http://schemas.openxmlformats.org/drawingml/2006/main">
            <a:off x="6877050" y="2238375"/>
            <a:ext cx="4324350" cy="323850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4288">
            <a:solidFill>
              <a:srgbClr val="3D8DFF"/>
            </a:solidFill>
            <a:prstDash val="solid"/>
          </a:ln>
        </p:spPr>
      </p:sp>
      <p:sp>
        <p:nvSpPr>
          <p:cNvPr id="16" name="">
            <a:extLst xmlns:a="http://schemas.openxmlformats.org/drawingml/2006/main">
              <a:ext uri="{FF2B5EF4-FFF2-40B4-BE49-F238E27FC236}">
                <a16:creationId xmlns:a16="http://schemas.microsoft.com/office/drawing/2014/main" id="{9B2EDCD6-A0D4-4D82-A19B-9129A4526389}"/>
              </a:ext>
            </a:extLst>
          </p:cNvPr>
          <p:cNvSpPr>
            <a:spLocks xmlns:a="http://schemas.openxmlformats.org/drawingml/2006/main" noGrp="1"/>
          </p:cNvSpPr>
          <p:nvPr/>
        </p:nvSpPr>
        <p:spPr>
          <a:xfrm xmlns:a="http://schemas.openxmlformats.org/drawingml/2006/main">
            <a:off x="7239000" y="2647950"/>
            <a:ext cx="3600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3D8DFF"/>
                </a:solidFill>
              </a:defRPr>
            </a:pPr>
            <a:r>
              <a:rPr sz="3900" b="1">
                <a:solidFill>
                  <a:srgbClr val="3D8DFF"/>
                </a:solidFill>
              </a:rPr>
              <a:t>75%</a:t>
            </a:r>
          </a:p>
        </p:txBody>
      </p:sp>
      <p:sp>
        <p:nvSpPr>
          <p:cNvPr id="17" name="">
            <a:extLst xmlns:a="http://schemas.openxmlformats.org/drawingml/2006/main">
              <a:ext uri="{FF2B5EF4-FFF2-40B4-BE49-F238E27FC236}">
                <a16:creationId xmlns:a16="http://schemas.microsoft.com/office/drawing/2014/main" id="{CF985796-49AD-4E94-8B65-FFDB21F9629C}"/>
              </a:ext>
            </a:extLst>
          </p:cNvPr>
          <p:cNvSpPr>
            <a:spLocks xmlns:a="http://schemas.openxmlformats.org/drawingml/2006/main" noGrp="1"/>
          </p:cNvSpPr>
          <p:nvPr/>
        </p:nvSpPr>
        <p:spPr>
          <a:xfrm xmlns:a="http://schemas.openxmlformats.org/drawingml/2006/main">
            <a:off x="7239000" y="3352800"/>
            <a:ext cx="3600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5E6670"/>
                </a:solidFill>
              </a:defRPr>
            </a:pPr>
            <a:r>
              <a:rPr sz="1425" b="1">
                <a:solidFill>
                  <a:srgbClr val="5E6670"/>
                </a:solidFill>
              </a:rPr>
              <a:t>precision</a:t>
            </a:r>
          </a:p>
        </p:txBody>
      </p:sp>
      <p:sp>
        <p:nvSpPr>
          <p:cNvPr id="18" name="">
            <a:extLst xmlns:a="http://schemas.openxmlformats.org/drawingml/2006/main">
              <a:ext uri="{FF2B5EF4-FFF2-40B4-BE49-F238E27FC236}">
                <a16:creationId xmlns:a16="http://schemas.microsoft.com/office/drawing/2014/main" id="{D9AC881B-D205-4664-B6DA-3AAF29E36D97}"/>
              </a:ext>
            </a:extLst>
          </p:cNvPr>
          <p:cNvSpPr>
            <a:spLocks xmlns:a="http://schemas.openxmlformats.org/drawingml/2006/main" noGrp="1"/>
          </p:cNvSpPr>
          <p:nvPr/>
        </p:nvSpPr>
        <p:spPr>
          <a:xfrm xmlns:a="http://schemas.openxmlformats.org/drawingml/2006/main">
            <a:off x="7524750" y="3876675"/>
            <a:ext cx="3028950" cy="19050"/>
          </a:xfrm>
          <a:prstGeom xmlns:a="http://schemas.openxmlformats.org/drawingml/2006/main" prst="rect">
            <a:avLst/>
          </a:prstGeom>
          <a:solidFill xmlns:a="http://schemas.openxmlformats.org/drawingml/2006/main">
            <a:srgbClr val="D8DEE5"/>
          </a:solidFill>
          <a:ln xmlns:a="http://schemas.openxmlformats.org/drawingml/2006/main" w="0">
            <a:solidFill>
              <a:srgbClr val="D8DEE5"/>
            </a:solidFill>
            <a:prstDash val="solid"/>
          </a:ln>
        </p:spPr>
      </p:sp>
      <p:sp>
        <p:nvSpPr>
          <p:cNvPr id="19" name="">
            <a:extLst xmlns:a="http://schemas.openxmlformats.org/drawingml/2006/main">
              <a:ext uri="{FF2B5EF4-FFF2-40B4-BE49-F238E27FC236}">
                <a16:creationId xmlns:a16="http://schemas.microsoft.com/office/drawing/2014/main" id="{7CA6D8DE-F201-448E-97A4-084E7CCDF27F}"/>
              </a:ext>
            </a:extLst>
          </p:cNvPr>
          <p:cNvSpPr>
            <a:spLocks xmlns:a="http://schemas.openxmlformats.org/drawingml/2006/main" noGrp="1"/>
          </p:cNvSpPr>
          <p:nvPr/>
        </p:nvSpPr>
        <p:spPr>
          <a:xfrm xmlns:a="http://schemas.openxmlformats.org/drawingml/2006/main">
            <a:off x="7239000" y="4095750"/>
            <a:ext cx="36004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150" b="1">
                <a:solidFill>
                  <a:srgbClr val="15825F"/>
                </a:solidFill>
              </a:defRPr>
            </a:pPr>
            <a:r>
              <a:rPr sz="3150" b="1">
                <a:solidFill>
                  <a:srgbClr val="15825F"/>
                </a:solidFill>
              </a:rPr>
              <a:t>100%</a:t>
            </a:r>
          </a:p>
        </p:txBody>
      </p:sp>
      <p:sp>
        <p:nvSpPr>
          <p:cNvPr id="20" name="">
            <a:extLst xmlns:a="http://schemas.openxmlformats.org/drawingml/2006/main">
              <a:ext uri="{FF2B5EF4-FFF2-40B4-BE49-F238E27FC236}">
                <a16:creationId xmlns:a16="http://schemas.microsoft.com/office/drawing/2014/main" id="{863EB3B5-7C0E-42A1-8E2A-8F8143F6E3BA}"/>
              </a:ext>
            </a:extLst>
          </p:cNvPr>
          <p:cNvSpPr>
            <a:spLocks xmlns:a="http://schemas.openxmlformats.org/drawingml/2006/main" noGrp="1"/>
          </p:cNvSpPr>
          <p:nvPr/>
        </p:nvSpPr>
        <p:spPr>
          <a:xfrm xmlns:a="http://schemas.openxmlformats.org/drawingml/2006/main">
            <a:off x="7239000" y="4714875"/>
            <a:ext cx="3600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5E6670"/>
                </a:solidFill>
              </a:defRPr>
            </a:pPr>
            <a:r>
              <a:rPr sz="1425" b="1">
                <a:solidFill>
                  <a:srgbClr val="5E6670"/>
                </a:solidFill>
              </a:rPr>
              <a:t>recall</a:t>
            </a:r>
          </a:p>
        </p:txBody>
      </p:sp>
    </p:spTree>
    <p:extLst>
      <p:ext uri="{BB962C8B-B14F-4D97-AF65-F5344CB8AC3E}">
        <p14:creationId xmlns:p14="http://schemas.microsoft.com/office/powerpoint/2010/main" val="95790849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C089E4B-F2F9-4864-95EE-BC8852A1D320}"/>
              </a:ext>
            </a:extLst>
          </p:cNvPr>
          <p:cNvSpPr>
            <a:spLocks xmlns:a="http://schemas.openxmlformats.org/drawingml/2006/main" noGrp="1"/>
          </p:cNvSpPr>
          <p:nvPr/>
        </p:nvSpPr>
        <p:spPr>
          <a:xfrm xmlns:a="http://schemas.openxmlformats.org/drawingml/2006/main">
            <a:off x="609600" y="361950"/>
            <a:ext cx="838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D8DFF"/>
                </a:solidFill>
              </a:defRPr>
            </a:pPr>
            <a:r>
              <a:rPr sz="975" b="1">
                <a:solidFill>
                  <a:srgbClr val="3D8DFF"/>
                </a:solidFill>
              </a:rPr>
              <a:t>DO NOT TUNE THE THRESHOLD ON THE TEST FAILURE</a:t>
            </a:r>
          </a:p>
        </p:txBody>
      </p:sp>
      <p:sp>
        <p:nvSpPr>
          <p:cNvPr id="2" name="">
            <a:extLst xmlns:a="http://schemas.openxmlformats.org/drawingml/2006/main">
              <a:ext uri="{FF2B5EF4-FFF2-40B4-BE49-F238E27FC236}">
                <a16:creationId xmlns:a16="http://schemas.microsoft.com/office/drawing/2014/main" id="{B2FD8F6E-A003-48FB-A9E5-5BF4C1216ED1}"/>
              </a:ext>
            </a:extLst>
          </p:cNvPr>
          <p:cNvSpPr>
            <a:spLocks xmlns:a="http://schemas.openxmlformats.org/drawingml/2006/main" noGrp="1"/>
          </p:cNvSpPr>
          <p:nvPr/>
        </p:nvSpPr>
        <p:spPr>
          <a:xfrm xmlns:a="http://schemas.openxmlformats.org/drawingml/2006/main">
            <a:off x="609600" y="68580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11111"/>
                </a:solidFill>
              </a:defRPr>
            </a:pPr>
            <a:r>
              <a:rPr sz="2625" b="1">
                <a:solidFill>
                  <a:srgbClr val="111111"/>
                </a:solidFill>
              </a:rPr>
              <a:t>Raising 0.45 above 0.49 would fix this row - and leak the answer into the model choice.</a:t>
            </a:r>
          </a:p>
        </p:txBody>
      </p:sp>
      <p:sp>
        <p:nvSpPr>
          <p:cNvPr id="3" name="">
            <a:extLst xmlns:a="http://schemas.openxmlformats.org/drawingml/2006/main">
              <a:ext uri="{FF2B5EF4-FFF2-40B4-BE49-F238E27FC236}">
                <a16:creationId xmlns:a16="http://schemas.microsoft.com/office/drawing/2014/main" id="{7E633A3F-41A3-4761-898D-7EFF12BDEB9A}"/>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8DEE5"/>
          </a:solidFill>
          <a:ln xmlns:a="http://schemas.openxmlformats.org/drawingml/2006/main" w="0">
            <a:solidFill>
              <a:srgbClr val="D8DEE5"/>
            </a:solidFill>
            <a:prstDash val="solid"/>
          </a:ln>
        </p:spPr>
      </p:sp>
      <p:sp>
        <p:nvSpPr>
          <p:cNvPr id="4" name="">
            <a:extLst xmlns:a="http://schemas.openxmlformats.org/drawingml/2006/main">
              <a:ext uri="{FF2B5EF4-FFF2-40B4-BE49-F238E27FC236}">
                <a16:creationId xmlns:a16="http://schemas.microsoft.com/office/drawing/2014/main" id="{781275B5-7769-48F1-A772-F5EF1E0961E7}"/>
              </a:ext>
            </a:extLst>
          </p:cNvPr>
          <p:cNvSpPr>
            <a:spLocks xmlns:a="http://schemas.openxmlformats.org/drawingml/2006/main" noGrp="1"/>
          </p:cNvSpPr>
          <p:nvPr/>
        </p:nvSpPr>
        <p:spPr>
          <a:xfrm xmlns:a="http://schemas.openxmlformats.org/drawingml/2006/main">
            <a:off x="609600" y="6543675"/>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5E6670"/>
                </a:solidFill>
              </a:defRPr>
            </a:pPr>
            <a:r>
              <a:rPr sz="825" b="1">
                <a:solidFill>
                  <a:srgbClr val="5E6670"/>
                </a:solidFill>
              </a:rPr>
              <a:t>NICODEMUS CHAN  /  5</a:t>
            </a:r>
          </a:p>
        </p:txBody>
      </p:sp>
      <p:sp>
        <p:nvSpPr>
          <p:cNvPr id="5" name="">
            <a:extLst xmlns:a="http://schemas.openxmlformats.org/drawingml/2006/main">
              <a:ext uri="{FF2B5EF4-FFF2-40B4-BE49-F238E27FC236}">
                <a16:creationId xmlns:a16="http://schemas.microsoft.com/office/drawing/2014/main" id="{FB9F3B3A-6F60-4A6A-B39B-41E9B9EE7FB8}"/>
              </a:ext>
            </a:extLst>
          </p:cNvPr>
          <p:cNvSpPr>
            <a:spLocks xmlns:a="http://schemas.openxmlformats.org/drawingml/2006/main" noGrp="1"/>
          </p:cNvSpPr>
          <p:nvPr/>
        </p:nvSpPr>
        <p:spPr>
          <a:xfrm xmlns:a="http://schemas.openxmlformats.org/drawingml/2006/main">
            <a:off x="609600" y="2266950"/>
            <a:ext cx="4857750" cy="2857500"/>
          </a:xfrm>
          <a:prstGeom xmlns:a="http://schemas.openxmlformats.org/drawingml/2006/main" prst="roundRect">
            <a:avLst>
              <a:gd name="adj" fmla="val 4000"/>
            </a:avLst>
          </a:prstGeom>
          <a:solidFill xmlns:a="http://schemas.openxmlformats.org/drawingml/2006/main">
            <a:srgbClr val="FFF6E5"/>
          </a:solidFill>
          <a:ln xmlns:a="http://schemas.openxmlformats.org/drawingml/2006/main" w="14288">
            <a:solidFill>
              <a:srgbClr val="E7B85C"/>
            </a:solidFill>
            <a:prstDash val="solid"/>
          </a:ln>
        </p:spPr>
      </p:sp>
      <p:sp>
        <p:nvSpPr>
          <p:cNvPr id="6" name="">
            <a:extLst xmlns:a="http://schemas.openxmlformats.org/drawingml/2006/main">
              <a:ext uri="{FF2B5EF4-FFF2-40B4-BE49-F238E27FC236}">
                <a16:creationId xmlns:a16="http://schemas.microsoft.com/office/drawing/2014/main" id="{B4F885DE-212F-4300-9E13-07830109BF5F}"/>
              </a:ext>
            </a:extLst>
          </p:cNvPr>
          <p:cNvSpPr>
            <a:spLocks xmlns:a="http://schemas.openxmlformats.org/drawingml/2006/main" noGrp="1"/>
          </p:cNvSpPr>
          <p:nvPr/>
        </p:nvSpPr>
        <p:spPr>
          <a:xfrm xmlns:a="http://schemas.openxmlformats.org/drawingml/2006/main">
            <a:off x="876300" y="2524125"/>
            <a:ext cx="1238250" cy="323850"/>
          </a:xfrm>
          <a:prstGeom xmlns:a="http://schemas.openxmlformats.org/drawingml/2006/main" prst="roundRect">
            <a:avLst>
              <a:gd name="adj" fmla="val 50000"/>
            </a:avLst>
          </a:prstGeom>
          <a:solidFill xmlns:a="http://schemas.openxmlformats.org/drawingml/2006/main">
            <a:srgbClr val="F6D79B"/>
          </a:solidFill>
          <a:ln xmlns:a="http://schemas.openxmlformats.org/drawingml/2006/main" w="14288">
            <a:solidFill>
              <a:srgbClr val="F6D79B"/>
            </a:solidFill>
            <a:prstDash val="solid"/>
          </a:ln>
        </p:spPr>
      </p:sp>
      <p:sp>
        <p:nvSpPr>
          <p:cNvPr id="7" name="">
            <a:extLst xmlns:a="http://schemas.openxmlformats.org/drawingml/2006/main">
              <a:ext uri="{FF2B5EF4-FFF2-40B4-BE49-F238E27FC236}">
                <a16:creationId xmlns:a16="http://schemas.microsoft.com/office/drawing/2014/main" id="{61D5C8A0-CAAB-4511-84BF-7B9070CDEFF8}"/>
              </a:ext>
            </a:extLst>
          </p:cNvPr>
          <p:cNvSpPr>
            <a:spLocks xmlns:a="http://schemas.openxmlformats.org/drawingml/2006/main" noGrp="1"/>
          </p:cNvSpPr>
          <p:nvPr/>
        </p:nvSpPr>
        <p:spPr>
          <a:xfrm xmlns:a="http://schemas.openxmlformats.org/drawingml/2006/main">
            <a:off x="952500" y="2571750"/>
            <a:ext cx="1085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B87300"/>
                </a:solidFill>
              </a:defRPr>
            </a:pPr>
            <a:r>
              <a:rPr sz="1050" b="1">
                <a:solidFill>
                  <a:srgbClr val="B87300"/>
                </a:solidFill>
              </a:rPr>
              <a:t>TEMPTATION</a:t>
            </a:r>
          </a:p>
        </p:txBody>
      </p:sp>
      <p:sp>
        <p:nvSpPr>
          <p:cNvPr id="8" name="">
            <a:extLst xmlns:a="http://schemas.openxmlformats.org/drawingml/2006/main">
              <a:ext uri="{FF2B5EF4-FFF2-40B4-BE49-F238E27FC236}">
                <a16:creationId xmlns:a16="http://schemas.microsoft.com/office/drawing/2014/main" id="{C75E317C-F7EA-4D59-A8D4-0D2458443048}"/>
              </a:ext>
            </a:extLst>
          </p:cNvPr>
          <p:cNvSpPr>
            <a:spLocks xmlns:a="http://schemas.openxmlformats.org/drawingml/2006/main" noGrp="1"/>
          </p:cNvSpPr>
          <p:nvPr/>
        </p:nvSpPr>
        <p:spPr>
          <a:xfrm xmlns:a="http://schemas.openxmlformats.org/drawingml/2006/main">
            <a:off x="876300" y="3067050"/>
            <a:ext cx="4095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a:solidFill>
                  <a:srgbClr val="111111"/>
                </a:solidFill>
              </a:defRPr>
            </a:pPr>
            <a:r>
              <a:rPr sz="2400" b="1">
                <a:solidFill>
                  <a:srgbClr val="111111"/>
                </a:solidFill>
              </a:rPr>
              <a:t>Raise the threshold</a:t>
            </a:r>
          </a:p>
          <a:p xmlns:a="http://schemas.openxmlformats.org/drawingml/2006/main">
            <a:pPr algn="l">
              <a:defRPr sz="2400" b="1">
                <a:solidFill>
                  <a:srgbClr val="111111"/>
                </a:solidFill>
              </a:defRPr>
            </a:pPr>
            <a:r>
              <a:rPr sz="2400" b="1">
                <a:solidFill>
                  <a:srgbClr val="111111"/>
                </a:solidFill>
              </a:rPr>
              <a:t>above 0.49</a:t>
            </a:r>
          </a:p>
        </p:txBody>
      </p:sp>
      <p:sp>
        <p:nvSpPr>
          <p:cNvPr id="9" name="">
            <a:extLst xmlns:a="http://schemas.openxmlformats.org/drawingml/2006/main">
              <a:ext uri="{FF2B5EF4-FFF2-40B4-BE49-F238E27FC236}">
                <a16:creationId xmlns:a16="http://schemas.microsoft.com/office/drawing/2014/main" id="{6B4042AC-5A02-4BBE-93B1-8611A2C9F829}"/>
              </a:ext>
            </a:extLst>
          </p:cNvPr>
          <p:cNvSpPr>
            <a:spLocks xmlns:a="http://schemas.openxmlformats.org/drawingml/2006/main" noGrp="1"/>
          </p:cNvSpPr>
          <p:nvPr/>
        </p:nvSpPr>
        <p:spPr>
          <a:xfrm xmlns:a="http://schemas.openxmlformats.org/drawingml/2006/main">
            <a:off x="876300" y="4086225"/>
            <a:ext cx="4095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5E6670"/>
                </a:solidFill>
              </a:defRPr>
            </a:pPr>
            <a:r>
              <a:rPr sz="1500" b="0">
                <a:solidFill>
                  <a:srgbClr val="5E6670"/>
                </a:solidFill>
              </a:rPr>
              <a:t>One failure disappears.</a:t>
            </a:r>
          </a:p>
          <a:p xmlns:a="http://schemas.openxmlformats.org/drawingml/2006/main">
            <a:pPr algn="l">
              <a:defRPr sz="1500" b="0">
                <a:solidFill>
                  <a:srgbClr val="5E6670"/>
                </a:solidFill>
              </a:defRPr>
            </a:pPr>
            <a:r>
              <a:rPr sz="1500" b="0">
                <a:solidFill>
                  <a:srgbClr val="5E6670"/>
                </a:solidFill>
              </a:rPr>
              <a:t>Confidence looks better.</a:t>
            </a:r>
          </a:p>
        </p:txBody>
      </p:sp>
      <p:sp>
        <p:nvSpPr>
          <p:cNvPr id="10" name="">
            <a:extLst xmlns:a="http://schemas.openxmlformats.org/drawingml/2006/main">
              <a:ext uri="{FF2B5EF4-FFF2-40B4-BE49-F238E27FC236}">
                <a16:creationId xmlns:a16="http://schemas.microsoft.com/office/drawing/2014/main" id="{EFEC2AFF-ECAE-4719-B187-09F164A826F5}"/>
              </a:ext>
            </a:extLst>
          </p:cNvPr>
          <p:cNvSpPr>
            <a:spLocks xmlns:a="http://schemas.openxmlformats.org/drawingml/2006/main" noGrp="1"/>
          </p:cNvSpPr>
          <p:nvPr/>
        </p:nvSpPr>
        <p:spPr>
          <a:xfrm xmlns:a="http://schemas.openxmlformats.org/drawingml/2006/main">
            <a:off x="6096000" y="2266950"/>
            <a:ext cx="5105400" cy="2857500"/>
          </a:xfrm>
          <a:prstGeom xmlns:a="http://schemas.openxmlformats.org/drawingml/2006/main" prst="roundRect">
            <a:avLst>
              <a:gd name="adj" fmla="val 4000"/>
            </a:avLst>
          </a:prstGeom>
          <a:solidFill xmlns:a="http://schemas.openxmlformats.org/drawingml/2006/main">
            <a:srgbClr val="EAF5FF"/>
          </a:solidFill>
          <a:ln xmlns:a="http://schemas.openxmlformats.org/drawingml/2006/main" w="14288">
            <a:solidFill>
              <a:srgbClr val="3D8DFF"/>
            </a:solidFill>
            <a:prstDash val="solid"/>
          </a:ln>
        </p:spPr>
      </p:sp>
      <p:sp>
        <p:nvSpPr>
          <p:cNvPr id="11" name="">
            <a:extLst xmlns:a="http://schemas.openxmlformats.org/drawingml/2006/main">
              <a:ext uri="{FF2B5EF4-FFF2-40B4-BE49-F238E27FC236}">
                <a16:creationId xmlns:a16="http://schemas.microsoft.com/office/drawing/2014/main" id="{C6A6B85C-932F-49A2-8FDF-1B5F3B910ABC}"/>
              </a:ext>
            </a:extLst>
          </p:cNvPr>
          <p:cNvSpPr>
            <a:spLocks xmlns:a="http://schemas.openxmlformats.org/drawingml/2006/main" noGrp="1"/>
          </p:cNvSpPr>
          <p:nvPr/>
        </p:nvSpPr>
        <p:spPr>
          <a:xfrm xmlns:a="http://schemas.openxmlformats.org/drawingml/2006/main">
            <a:off x="6362700" y="2524125"/>
            <a:ext cx="1238250" cy="323850"/>
          </a:xfrm>
          <a:prstGeom xmlns:a="http://schemas.openxmlformats.org/drawingml/2006/main" prst="roundRect">
            <a:avLst>
              <a:gd name="adj" fmla="val 50000"/>
            </a:avLst>
          </a:prstGeom>
          <a:solidFill xmlns:a="http://schemas.openxmlformats.org/drawingml/2006/main">
            <a:srgbClr val="3D8DFF"/>
          </a:solidFill>
          <a:ln xmlns:a="http://schemas.openxmlformats.org/drawingml/2006/main" w="14288">
            <a:solidFill>
              <a:srgbClr val="3D8DFF"/>
            </a:solidFill>
            <a:prstDash val="solid"/>
          </a:ln>
        </p:spPr>
      </p:sp>
      <p:sp>
        <p:nvSpPr>
          <p:cNvPr id="12" name="">
            <a:extLst xmlns:a="http://schemas.openxmlformats.org/drawingml/2006/main">
              <a:ext uri="{FF2B5EF4-FFF2-40B4-BE49-F238E27FC236}">
                <a16:creationId xmlns:a16="http://schemas.microsoft.com/office/drawing/2014/main" id="{24A01133-85A9-4902-80B9-E3E8C9E24833}"/>
              </a:ext>
            </a:extLst>
          </p:cNvPr>
          <p:cNvSpPr>
            <a:spLocks xmlns:a="http://schemas.openxmlformats.org/drawingml/2006/main" noGrp="1"/>
          </p:cNvSpPr>
          <p:nvPr/>
        </p:nvSpPr>
        <p:spPr>
          <a:xfrm xmlns:a="http://schemas.openxmlformats.org/drawingml/2006/main">
            <a:off x="6438900" y="2571750"/>
            <a:ext cx="1085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DISCIPLINE</a:t>
            </a:r>
          </a:p>
        </p:txBody>
      </p:sp>
      <p:sp>
        <p:nvSpPr>
          <p:cNvPr id="13" name="">
            <a:extLst xmlns:a="http://schemas.openxmlformats.org/drawingml/2006/main">
              <a:ext uri="{FF2B5EF4-FFF2-40B4-BE49-F238E27FC236}">
                <a16:creationId xmlns:a16="http://schemas.microsoft.com/office/drawing/2014/main" id="{39DA3C43-B5B5-4DA8-8263-1B4B2E2239A4}"/>
              </a:ext>
            </a:extLst>
          </p:cNvPr>
          <p:cNvSpPr>
            <a:spLocks xmlns:a="http://schemas.openxmlformats.org/drawingml/2006/main" noGrp="1"/>
          </p:cNvSpPr>
          <p:nvPr/>
        </p:nvSpPr>
        <p:spPr>
          <a:xfrm xmlns:a="http://schemas.openxmlformats.org/drawingml/2006/main">
            <a:off x="6362700" y="3067050"/>
            <a:ext cx="438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11111"/>
                </a:solidFill>
              </a:defRPr>
            </a:pPr>
            <a:r>
              <a:rPr sz="2250" b="1">
                <a:solidFill>
                  <a:srgbClr val="111111"/>
                </a:solidFill>
              </a:rPr>
              <a:t>Freeze -&gt; test -&gt; diagnose</a:t>
            </a:r>
          </a:p>
        </p:txBody>
      </p:sp>
      <p:sp>
        <p:nvSpPr>
          <p:cNvPr id="14" name="">
            <a:extLst xmlns:a="http://schemas.openxmlformats.org/drawingml/2006/main">
              <a:ext uri="{FF2B5EF4-FFF2-40B4-BE49-F238E27FC236}">
                <a16:creationId xmlns:a16="http://schemas.microsoft.com/office/drawing/2014/main" id="{BDF33AF0-D8C5-4832-B157-5C8DD141841F}"/>
              </a:ext>
            </a:extLst>
          </p:cNvPr>
          <p:cNvSpPr>
            <a:spLocks xmlns:a="http://schemas.openxmlformats.org/drawingml/2006/main" noGrp="1"/>
          </p:cNvSpPr>
          <p:nvPr/>
        </p:nvSpPr>
        <p:spPr>
          <a:xfrm xmlns:a="http://schemas.openxmlformats.org/drawingml/2006/main">
            <a:off x="6362700" y="3771900"/>
            <a:ext cx="4286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5E6670"/>
                </a:solidFill>
              </a:defRPr>
            </a:pPr>
            <a:r>
              <a:rPr sz="1500" b="0">
                <a:solidFill>
                  <a:srgbClr val="5E6670"/>
                </a:solidFill>
              </a:rPr>
              <a:t>Expand the labeled set. Add sufficiency checks. Recalibrate only on validation data.</a:t>
            </a:r>
          </a:p>
        </p:txBody>
      </p:sp>
      <p:sp>
        <p:nvSpPr>
          <p:cNvPr id="15" name="">
            <a:extLst xmlns:a="http://schemas.openxmlformats.org/drawingml/2006/main">
              <a:ext uri="{FF2B5EF4-FFF2-40B4-BE49-F238E27FC236}">
                <a16:creationId xmlns:a16="http://schemas.microsoft.com/office/drawing/2014/main" id="{FF799E7D-910C-433F-AC6B-C4B8EA5FEBAD}"/>
              </a:ext>
            </a:extLst>
          </p:cNvPr>
          <p:cNvSpPr>
            <a:spLocks xmlns:a="http://schemas.openxmlformats.org/drawingml/2006/main" noGrp="1"/>
          </p:cNvSpPr>
          <p:nvPr/>
        </p:nvSpPr>
        <p:spPr>
          <a:xfrm xmlns:a="http://schemas.openxmlformats.org/drawingml/2006/main">
            <a:off x="609600" y="5553075"/>
            <a:ext cx="10591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111111"/>
                </a:solidFill>
              </a:defRPr>
            </a:pPr>
            <a:r>
              <a:rPr sz="1725" b="1">
                <a:solidFill>
                  <a:srgbClr val="111111"/>
                </a:solidFill>
              </a:rPr>
              <a:t>This is the RAG equivalent of backtesting without peeking.</a:t>
            </a:r>
          </a:p>
        </p:txBody>
      </p:sp>
    </p:spTree>
    <p:extLst>
      <p:ext uri="{BB962C8B-B14F-4D97-AF65-F5344CB8AC3E}">
        <p14:creationId xmlns:p14="http://schemas.microsoft.com/office/powerpoint/2010/main" val="91093008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55148416-5150-43FD-B3A3-D535AD5AA0CE}"/>
              </a:ext>
            </a:extLst>
          </p:cNvPr>
          <p:cNvSpPr>
            <a:spLocks xmlns:a="http://schemas.openxmlformats.org/drawingml/2006/main" noGrp="1"/>
          </p:cNvSpPr>
          <p:nvPr/>
        </p:nvSpPr>
        <p:spPr>
          <a:xfrm xmlns:a="http://schemas.openxmlformats.org/drawingml/2006/main">
            <a:off x="609600" y="361950"/>
            <a:ext cx="838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D8DFF"/>
                </a:solidFill>
              </a:defRPr>
            </a:pPr>
            <a:r>
              <a:rPr sz="975" b="1">
                <a:solidFill>
                  <a:srgbClr val="3D8DFF"/>
                </a:solidFill>
              </a:rPr>
              <a:t>AN AGENT TURNS RETRIEVAL INTO A CONTROLLED DECISION LOOP</a:t>
            </a:r>
          </a:p>
        </p:txBody>
      </p:sp>
      <p:sp>
        <p:nvSpPr>
          <p:cNvPr id="2" name="">
            <a:extLst xmlns:a="http://schemas.openxmlformats.org/drawingml/2006/main">
              <a:ext uri="{FF2B5EF4-FFF2-40B4-BE49-F238E27FC236}">
                <a16:creationId xmlns:a16="http://schemas.microsoft.com/office/drawing/2014/main" id="{BB0A4EC6-7F6C-429B-BE83-29C9503190D6}"/>
              </a:ext>
            </a:extLst>
          </p:cNvPr>
          <p:cNvSpPr>
            <a:spLocks xmlns:a="http://schemas.openxmlformats.org/drawingml/2006/main" noGrp="1"/>
          </p:cNvSpPr>
          <p:nvPr/>
        </p:nvSpPr>
        <p:spPr>
          <a:xfrm xmlns:a="http://schemas.openxmlformats.org/drawingml/2006/main">
            <a:off x="609600" y="68580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11111"/>
                </a:solidFill>
              </a:defRPr>
            </a:pPr>
            <a:r>
              <a:rPr sz="2625" b="1">
                <a:solidFill>
                  <a:srgbClr val="111111"/>
                </a:solidFill>
              </a:rPr>
              <a:t>The tool finds evidence; the agent decides whether that evidence can support an answer.</a:t>
            </a:r>
          </a:p>
        </p:txBody>
      </p:sp>
      <p:sp>
        <p:nvSpPr>
          <p:cNvPr id="3" name="">
            <a:extLst xmlns:a="http://schemas.openxmlformats.org/drawingml/2006/main">
              <a:ext uri="{FF2B5EF4-FFF2-40B4-BE49-F238E27FC236}">
                <a16:creationId xmlns:a16="http://schemas.microsoft.com/office/drawing/2014/main" id="{E46CD27D-BC5A-44D6-8BAA-B23D8FD04A97}"/>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8DEE5"/>
          </a:solidFill>
          <a:ln xmlns:a="http://schemas.openxmlformats.org/drawingml/2006/main" w="0">
            <a:solidFill>
              <a:srgbClr val="D8DEE5"/>
            </a:solidFill>
            <a:prstDash val="solid"/>
          </a:ln>
        </p:spPr>
      </p:sp>
      <p:sp>
        <p:nvSpPr>
          <p:cNvPr id="4" name="">
            <a:extLst xmlns:a="http://schemas.openxmlformats.org/drawingml/2006/main">
              <a:ext uri="{FF2B5EF4-FFF2-40B4-BE49-F238E27FC236}">
                <a16:creationId xmlns:a16="http://schemas.microsoft.com/office/drawing/2014/main" id="{31F2D03A-BC45-4EF4-8775-189784049B03}"/>
              </a:ext>
            </a:extLst>
          </p:cNvPr>
          <p:cNvSpPr>
            <a:spLocks xmlns:a="http://schemas.openxmlformats.org/drawingml/2006/main" noGrp="1"/>
          </p:cNvSpPr>
          <p:nvPr/>
        </p:nvSpPr>
        <p:spPr>
          <a:xfrm xmlns:a="http://schemas.openxmlformats.org/drawingml/2006/main">
            <a:off x="609600" y="6543675"/>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5E6670"/>
                </a:solidFill>
              </a:defRPr>
            </a:pPr>
            <a:r>
              <a:rPr sz="825" b="1">
                <a:solidFill>
                  <a:srgbClr val="5E6670"/>
                </a:solidFill>
              </a:rPr>
              <a:t>NICODEMUS CHAN  /  6</a:t>
            </a:r>
          </a:p>
        </p:txBody>
      </p:sp>
      <p:sp>
        <p:nvSpPr>
          <p:cNvPr id="5" name="">
            <a:extLst xmlns:a="http://schemas.openxmlformats.org/drawingml/2006/main">
              <a:ext uri="{FF2B5EF4-FFF2-40B4-BE49-F238E27FC236}">
                <a16:creationId xmlns:a16="http://schemas.microsoft.com/office/drawing/2014/main" id="{C71E2020-08CC-4D48-ADEB-CAC19B2F521B}"/>
              </a:ext>
            </a:extLst>
          </p:cNvPr>
          <p:cNvSpPr>
            <a:spLocks xmlns:a="http://schemas.openxmlformats.org/drawingml/2006/main" noGrp="1"/>
          </p:cNvSpPr>
          <p:nvPr/>
        </p:nvSpPr>
        <p:spPr>
          <a:xfrm xmlns:a="http://schemas.openxmlformats.org/drawingml/2006/main">
            <a:off x="609600" y="2571750"/>
            <a:ext cx="1676400" cy="1123950"/>
          </a:xfrm>
          <a:prstGeom xmlns:a="http://schemas.openxmlformats.org/drawingml/2006/main" prst="roundRect">
            <a:avLst>
              <a:gd name="adj" fmla="val 10169"/>
            </a:avLst>
          </a:prstGeom>
          <a:solidFill xmlns:a="http://schemas.openxmlformats.org/drawingml/2006/main">
            <a:srgbClr val="F4F6F8"/>
          </a:solidFill>
          <a:ln xmlns:a="http://schemas.openxmlformats.org/drawingml/2006/main" w="14288">
            <a:solidFill>
              <a:srgbClr val="D8DEE5"/>
            </a:solidFill>
            <a:prstDash val="solid"/>
          </a:ln>
        </p:spPr>
      </p:sp>
      <p:sp>
        <p:nvSpPr>
          <p:cNvPr id="6" name="">
            <a:extLst xmlns:a="http://schemas.openxmlformats.org/drawingml/2006/main">
              <a:ext uri="{FF2B5EF4-FFF2-40B4-BE49-F238E27FC236}">
                <a16:creationId xmlns:a16="http://schemas.microsoft.com/office/drawing/2014/main" id="{9722599F-8FD9-4AAC-854B-838F3CBCAE53}"/>
              </a:ext>
            </a:extLst>
          </p:cNvPr>
          <p:cNvSpPr>
            <a:spLocks xmlns:a="http://schemas.openxmlformats.org/drawingml/2006/main" noGrp="1"/>
          </p:cNvSpPr>
          <p:nvPr/>
        </p:nvSpPr>
        <p:spPr>
          <a:xfrm xmlns:a="http://schemas.openxmlformats.org/drawingml/2006/main">
            <a:off x="781050" y="2733675"/>
            <a:ext cx="333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3D8DFF"/>
                </a:solidFill>
              </a:defRPr>
            </a:pPr>
            <a:r>
              <a:rPr sz="1200" b="1">
                <a:solidFill>
                  <a:srgbClr val="3D8DFF"/>
                </a:solidFill>
              </a:rPr>
              <a:t>1</a:t>
            </a:r>
          </a:p>
        </p:txBody>
      </p:sp>
      <p:sp>
        <p:nvSpPr>
          <p:cNvPr id="7" name="">
            <a:extLst xmlns:a="http://schemas.openxmlformats.org/drawingml/2006/main">
              <a:ext uri="{FF2B5EF4-FFF2-40B4-BE49-F238E27FC236}">
                <a16:creationId xmlns:a16="http://schemas.microsoft.com/office/drawing/2014/main" id="{FC1291B3-0DC4-4C3B-A7C0-6B349AFC2B1C}"/>
              </a:ext>
            </a:extLst>
          </p:cNvPr>
          <p:cNvSpPr>
            <a:spLocks xmlns:a="http://schemas.openxmlformats.org/drawingml/2006/main" noGrp="1"/>
          </p:cNvSpPr>
          <p:nvPr/>
        </p:nvSpPr>
        <p:spPr>
          <a:xfrm xmlns:a="http://schemas.openxmlformats.org/drawingml/2006/main">
            <a:off x="781050" y="312420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11111"/>
                </a:solidFill>
              </a:defRPr>
            </a:pPr>
            <a:r>
              <a:rPr sz="1425" b="1">
                <a:solidFill>
                  <a:srgbClr val="111111"/>
                </a:solidFill>
              </a:rPr>
              <a:t>Question</a:t>
            </a:r>
          </a:p>
        </p:txBody>
      </p:sp>
      <p:sp>
        <p:nvSpPr>
          <p:cNvPr id="8" name="">
            <a:extLst xmlns:a="http://schemas.openxmlformats.org/drawingml/2006/main">
              <a:ext uri="{FF2B5EF4-FFF2-40B4-BE49-F238E27FC236}">
                <a16:creationId xmlns:a16="http://schemas.microsoft.com/office/drawing/2014/main" id="{4963D022-9DC1-488D-84B0-D3B11561B5A9}"/>
              </a:ext>
            </a:extLst>
          </p:cNvPr>
          <p:cNvSpPr>
            <a:spLocks xmlns:a="http://schemas.openxmlformats.org/drawingml/2006/main" noGrp="1"/>
          </p:cNvSpPr>
          <p:nvPr/>
        </p:nvSpPr>
        <p:spPr>
          <a:xfrm xmlns:a="http://schemas.openxmlformats.org/drawingml/2006/main">
            <a:off x="2743200" y="2571750"/>
            <a:ext cx="1676400" cy="1123950"/>
          </a:xfrm>
          <a:prstGeom xmlns:a="http://schemas.openxmlformats.org/drawingml/2006/main" prst="roundRect">
            <a:avLst>
              <a:gd name="adj" fmla="val 10169"/>
            </a:avLst>
          </a:prstGeom>
          <a:solidFill xmlns:a="http://schemas.openxmlformats.org/drawingml/2006/main">
            <a:srgbClr val="EAF5FF"/>
          </a:solidFill>
          <a:ln xmlns:a="http://schemas.openxmlformats.org/drawingml/2006/main" w="14288">
            <a:solidFill>
              <a:srgbClr val="D8DEE5"/>
            </a:solidFill>
            <a:prstDash val="solid"/>
          </a:ln>
        </p:spPr>
      </p:sp>
      <p:sp>
        <p:nvSpPr>
          <p:cNvPr id="9" name="">
            <a:extLst xmlns:a="http://schemas.openxmlformats.org/drawingml/2006/main">
              <a:ext uri="{FF2B5EF4-FFF2-40B4-BE49-F238E27FC236}">
                <a16:creationId xmlns:a16="http://schemas.microsoft.com/office/drawing/2014/main" id="{6D3B7DF0-D009-4A0B-8C0C-E64A92406FA4}"/>
              </a:ext>
            </a:extLst>
          </p:cNvPr>
          <p:cNvSpPr>
            <a:spLocks xmlns:a="http://schemas.openxmlformats.org/drawingml/2006/main" noGrp="1"/>
          </p:cNvSpPr>
          <p:nvPr/>
        </p:nvSpPr>
        <p:spPr>
          <a:xfrm xmlns:a="http://schemas.openxmlformats.org/drawingml/2006/main">
            <a:off x="2914650" y="2733675"/>
            <a:ext cx="333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3D8DFF"/>
                </a:solidFill>
              </a:defRPr>
            </a:pPr>
            <a:r>
              <a:rPr sz="1200" b="1">
                <a:solidFill>
                  <a:srgbClr val="3D8DFF"/>
                </a:solidFill>
              </a:rPr>
              <a:t>2</a:t>
            </a:r>
          </a:p>
        </p:txBody>
      </p:sp>
      <p:sp>
        <p:nvSpPr>
          <p:cNvPr id="10" name="">
            <a:extLst xmlns:a="http://schemas.openxmlformats.org/drawingml/2006/main">
              <a:ext uri="{FF2B5EF4-FFF2-40B4-BE49-F238E27FC236}">
                <a16:creationId xmlns:a16="http://schemas.microsoft.com/office/drawing/2014/main" id="{2C8D0C3A-376C-4647-9B51-0748BE0FECF2}"/>
              </a:ext>
            </a:extLst>
          </p:cNvPr>
          <p:cNvSpPr>
            <a:spLocks xmlns:a="http://schemas.openxmlformats.org/drawingml/2006/main" noGrp="1"/>
          </p:cNvSpPr>
          <p:nvPr/>
        </p:nvSpPr>
        <p:spPr>
          <a:xfrm xmlns:a="http://schemas.openxmlformats.org/drawingml/2006/main">
            <a:off x="2914650" y="312420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11111"/>
                </a:solidFill>
              </a:defRPr>
            </a:pPr>
            <a:r>
              <a:rPr sz="1425" b="1">
                <a:solidFill>
                  <a:srgbClr val="111111"/>
                </a:solidFill>
              </a:rPr>
              <a:t>Agent</a:t>
            </a:r>
          </a:p>
        </p:txBody>
      </p:sp>
      <p:cxnSp>
        <p:nvCxnSpPr>
          <p:cNvPr id="36" name=""/>
          <p:cNvCxnSpPr>
            <a:stCxn xmlns:a="http://schemas.openxmlformats.org/drawingml/2006/main" id="5" idx="3"/>
            <a:endCxn xmlns:a="http://schemas.openxmlformats.org/drawingml/2006/main" id="8" idx="1"/>
          </p:cNvCxnSpPr>
          <p:nvPr/>
        </p:nvCxnSpPr>
        <p:spPr>
          <a:xfrm xmlns:a="http://schemas.openxmlformats.org/drawingml/2006/main">
            <a:off x="2286000" y="3133725"/>
            <a:ext cx="457200" cy="0"/>
          </a:xfrm>
          <a:prstGeom xmlns:a="http://schemas.openxmlformats.org/drawingml/2006/main" prst="straightConnector1">
            <a:avLst/>
          </a:prstGeom>
          <a:ln xmlns:a="http://schemas.openxmlformats.org/drawingml/2006/main" w="19050">
            <a:solidFill>
              <a:srgbClr val="5E6670"/>
            </a:solidFill>
            <a:prstDash val="solid"/>
            <a:tailEnd type="arrow" w="med" len="med"/>
          </a:ln>
        </p:spPr>
      </p:cxnSp>
      <p:sp>
        <p:nvSpPr>
          <p:cNvPr id="12" name="">
            <a:extLst xmlns:a="http://schemas.openxmlformats.org/drawingml/2006/main">
              <a:ext uri="{FF2B5EF4-FFF2-40B4-BE49-F238E27FC236}">
                <a16:creationId xmlns:a16="http://schemas.microsoft.com/office/drawing/2014/main" id="{4AAE3432-0D31-4233-B108-00A9FDFEECDF}"/>
              </a:ext>
            </a:extLst>
          </p:cNvPr>
          <p:cNvSpPr>
            <a:spLocks xmlns:a="http://schemas.openxmlformats.org/drawingml/2006/main" noGrp="1"/>
          </p:cNvSpPr>
          <p:nvPr/>
        </p:nvSpPr>
        <p:spPr>
          <a:xfrm xmlns:a="http://schemas.openxmlformats.org/drawingml/2006/main">
            <a:off x="4876800" y="2571750"/>
            <a:ext cx="1676400" cy="1123950"/>
          </a:xfrm>
          <a:prstGeom xmlns:a="http://schemas.openxmlformats.org/drawingml/2006/main" prst="roundRect">
            <a:avLst>
              <a:gd name="adj" fmla="val 10169"/>
            </a:avLst>
          </a:prstGeom>
          <a:solidFill xmlns:a="http://schemas.openxmlformats.org/drawingml/2006/main">
            <a:srgbClr val="EAF5FF"/>
          </a:solidFill>
          <a:ln xmlns:a="http://schemas.openxmlformats.org/drawingml/2006/main" w="14288">
            <a:solidFill>
              <a:srgbClr val="D8DEE5"/>
            </a:solidFill>
            <a:prstDash val="solid"/>
          </a:ln>
        </p:spPr>
      </p:sp>
      <p:sp>
        <p:nvSpPr>
          <p:cNvPr id="13" name="">
            <a:extLst xmlns:a="http://schemas.openxmlformats.org/drawingml/2006/main">
              <a:ext uri="{FF2B5EF4-FFF2-40B4-BE49-F238E27FC236}">
                <a16:creationId xmlns:a16="http://schemas.microsoft.com/office/drawing/2014/main" id="{2E8D55AC-F6BE-4105-B839-63E0E46C4997}"/>
              </a:ext>
            </a:extLst>
          </p:cNvPr>
          <p:cNvSpPr>
            <a:spLocks xmlns:a="http://schemas.openxmlformats.org/drawingml/2006/main" noGrp="1"/>
          </p:cNvSpPr>
          <p:nvPr/>
        </p:nvSpPr>
        <p:spPr>
          <a:xfrm xmlns:a="http://schemas.openxmlformats.org/drawingml/2006/main">
            <a:off x="5048250" y="2733675"/>
            <a:ext cx="333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3D8DFF"/>
                </a:solidFill>
              </a:defRPr>
            </a:pPr>
            <a:r>
              <a:rPr sz="1200" b="1">
                <a:solidFill>
                  <a:srgbClr val="3D8DFF"/>
                </a:solidFill>
              </a:rPr>
              <a:t>3</a:t>
            </a:r>
          </a:p>
        </p:txBody>
      </p:sp>
      <p:sp>
        <p:nvSpPr>
          <p:cNvPr id="14" name="">
            <a:extLst xmlns:a="http://schemas.openxmlformats.org/drawingml/2006/main">
              <a:ext uri="{FF2B5EF4-FFF2-40B4-BE49-F238E27FC236}">
                <a16:creationId xmlns:a16="http://schemas.microsoft.com/office/drawing/2014/main" id="{3237EAC1-9205-4EDA-81D5-A979820A819A}"/>
              </a:ext>
            </a:extLst>
          </p:cNvPr>
          <p:cNvSpPr>
            <a:spLocks xmlns:a="http://schemas.openxmlformats.org/drawingml/2006/main" noGrp="1"/>
          </p:cNvSpPr>
          <p:nvPr/>
        </p:nvSpPr>
        <p:spPr>
          <a:xfrm xmlns:a="http://schemas.openxmlformats.org/drawingml/2006/main">
            <a:off x="5048250" y="312420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11111"/>
                </a:solidFill>
              </a:defRPr>
            </a:pPr>
            <a:r>
              <a:rPr sz="1425" b="1">
                <a:solidFill>
                  <a:srgbClr val="111111"/>
                </a:solidFill>
              </a:rPr>
              <a:t>RAG tool</a:t>
            </a:r>
          </a:p>
        </p:txBody>
      </p:sp>
      <p:cxnSp>
        <p:nvCxnSpPr>
          <p:cNvPr id="40" name=""/>
          <p:cNvCxnSpPr>
            <a:stCxn xmlns:a="http://schemas.openxmlformats.org/drawingml/2006/main" id="8" idx="3"/>
            <a:endCxn xmlns:a="http://schemas.openxmlformats.org/drawingml/2006/main" id="12" idx="1"/>
          </p:cNvCxnSpPr>
          <p:nvPr/>
        </p:nvCxnSpPr>
        <p:spPr>
          <a:xfrm xmlns:a="http://schemas.openxmlformats.org/drawingml/2006/main">
            <a:off x="4419600" y="3133725"/>
            <a:ext cx="457200" cy="0"/>
          </a:xfrm>
          <a:prstGeom xmlns:a="http://schemas.openxmlformats.org/drawingml/2006/main" prst="straightConnector1">
            <a:avLst/>
          </a:prstGeom>
          <a:ln xmlns:a="http://schemas.openxmlformats.org/drawingml/2006/main" w="19050">
            <a:solidFill>
              <a:srgbClr val="5E6670"/>
            </a:solidFill>
            <a:prstDash val="solid"/>
            <a:tailEnd type="arrow" w="med" len="med"/>
          </a:ln>
        </p:spPr>
      </p:cxnSp>
      <p:sp>
        <p:nvSpPr>
          <p:cNvPr id="16" name="">
            <a:extLst xmlns:a="http://schemas.openxmlformats.org/drawingml/2006/main">
              <a:ext uri="{FF2B5EF4-FFF2-40B4-BE49-F238E27FC236}">
                <a16:creationId xmlns:a16="http://schemas.microsoft.com/office/drawing/2014/main" id="{9C3D81F7-B135-4945-9500-A544572C158F}"/>
              </a:ext>
            </a:extLst>
          </p:cNvPr>
          <p:cNvSpPr>
            <a:spLocks xmlns:a="http://schemas.openxmlformats.org/drawingml/2006/main" noGrp="1"/>
          </p:cNvSpPr>
          <p:nvPr/>
        </p:nvSpPr>
        <p:spPr>
          <a:xfrm xmlns:a="http://schemas.openxmlformats.org/drawingml/2006/main">
            <a:off x="7010400" y="2571750"/>
            <a:ext cx="1676400" cy="1123950"/>
          </a:xfrm>
          <a:prstGeom xmlns:a="http://schemas.openxmlformats.org/drawingml/2006/main" prst="roundRect">
            <a:avLst>
              <a:gd name="adj" fmla="val 10169"/>
            </a:avLst>
          </a:prstGeom>
          <a:solidFill xmlns:a="http://schemas.openxmlformats.org/drawingml/2006/main">
            <a:srgbClr val="F4F6F8"/>
          </a:solidFill>
          <a:ln xmlns:a="http://schemas.openxmlformats.org/drawingml/2006/main" w="14288">
            <a:solidFill>
              <a:srgbClr val="D8DEE5"/>
            </a:solidFill>
            <a:prstDash val="solid"/>
          </a:ln>
        </p:spPr>
      </p:sp>
      <p:sp>
        <p:nvSpPr>
          <p:cNvPr id="17" name="">
            <a:extLst xmlns:a="http://schemas.openxmlformats.org/drawingml/2006/main">
              <a:ext uri="{FF2B5EF4-FFF2-40B4-BE49-F238E27FC236}">
                <a16:creationId xmlns:a16="http://schemas.microsoft.com/office/drawing/2014/main" id="{9B0880BE-10F8-4FBD-85C3-F257115505A7}"/>
              </a:ext>
            </a:extLst>
          </p:cNvPr>
          <p:cNvSpPr>
            <a:spLocks xmlns:a="http://schemas.openxmlformats.org/drawingml/2006/main" noGrp="1"/>
          </p:cNvSpPr>
          <p:nvPr/>
        </p:nvSpPr>
        <p:spPr>
          <a:xfrm xmlns:a="http://schemas.openxmlformats.org/drawingml/2006/main">
            <a:off x="7181850" y="2733675"/>
            <a:ext cx="333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3D8DFF"/>
                </a:solidFill>
              </a:defRPr>
            </a:pPr>
            <a:r>
              <a:rPr sz="1200" b="1">
                <a:solidFill>
                  <a:srgbClr val="3D8DFF"/>
                </a:solidFill>
              </a:rPr>
              <a:t>4</a:t>
            </a:r>
          </a:p>
        </p:txBody>
      </p:sp>
      <p:sp>
        <p:nvSpPr>
          <p:cNvPr id="18" name="">
            <a:extLst xmlns:a="http://schemas.openxmlformats.org/drawingml/2006/main">
              <a:ext uri="{FF2B5EF4-FFF2-40B4-BE49-F238E27FC236}">
                <a16:creationId xmlns:a16="http://schemas.microsoft.com/office/drawing/2014/main" id="{CB08A34C-88B5-4FB7-9DFC-96D052AD00F5}"/>
              </a:ext>
            </a:extLst>
          </p:cNvPr>
          <p:cNvSpPr>
            <a:spLocks xmlns:a="http://schemas.openxmlformats.org/drawingml/2006/main" noGrp="1"/>
          </p:cNvSpPr>
          <p:nvPr/>
        </p:nvSpPr>
        <p:spPr>
          <a:xfrm xmlns:a="http://schemas.openxmlformats.org/drawingml/2006/main">
            <a:off x="7181850" y="312420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11111"/>
                </a:solidFill>
              </a:defRPr>
            </a:pPr>
            <a:r>
              <a:rPr sz="1425" b="1">
                <a:solidFill>
                  <a:srgbClr val="111111"/>
                </a:solidFill>
              </a:rPr>
              <a:t>Evidence</a:t>
            </a:r>
          </a:p>
        </p:txBody>
      </p:sp>
      <p:cxnSp>
        <p:nvCxnSpPr>
          <p:cNvPr id="44" name=""/>
          <p:cNvCxnSpPr>
            <a:stCxn xmlns:a="http://schemas.openxmlformats.org/drawingml/2006/main" id="12" idx="3"/>
            <a:endCxn xmlns:a="http://schemas.openxmlformats.org/drawingml/2006/main" id="16" idx="1"/>
          </p:cNvCxnSpPr>
          <p:nvPr/>
        </p:nvCxnSpPr>
        <p:spPr>
          <a:xfrm xmlns:a="http://schemas.openxmlformats.org/drawingml/2006/main">
            <a:off x="6553200" y="3133725"/>
            <a:ext cx="457200" cy="0"/>
          </a:xfrm>
          <a:prstGeom xmlns:a="http://schemas.openxmlformats.org/drawingml/2006/main" prst="straightConnector1">
            <a:avLst/>
          </a:prstGeom>
          <a:ln xmlns:a="http://schemas.openxmlformats.org/drawingml/2006/main" w="19050">
            <a:solidFill>
              <a:srgbClr val="5E6670"/>
            </a:solidFill>
            <a:prstDash val="solid"/>
            <a:tailEnd type="arrow" w="med" len="med"/>
          </a:ln>
        </p:spPr>
      </p:cxnSp>
      <p:sp>
        <p:nvSpPr>
          <p:cNvPr id="20" name="">
            <a:extLst xmlns:a="http://schemas.openxmlformats.org/drawingml/2006/main">
              <a:ext uri="{FF2B5EF4-FFF2-40B4-BE49-F238E27FC236}">
                <a16:creationId xmlns:a16="http://schemas.microsoft.com/office/drawing/2014/main" id="{C191C3A0-BE2B-409B-84DC-A5ABFCD72477}"/>
              </a:ext>
            </a:extLst>
          </p:cNvPr>
          <p:cNvSpPr>
            <a:spLocks xmlns:a="http://schemas.openxmlformats.org/drawingml/2006/main" noGrp="1"/>
          </p:cNvSpPr>
          <p:nvPr/>
        </p:nvSpPr>
        <p:spPr>
          <a:xfrm xmlns:a="http://schemas.openxmlformats.org/drawingml/2006/main">
            <a:off x="9144000" y="2571750"/>
            <a:ext cx="1676400" cy="1123950"/>
          </a:xfrm>
          <a:prstGeom xmlns:a="http://schemas.openxmlformats.org/drawingml/2006/main" prst="roundRect">
            <a:avLst>
              <a:gd name="adj" fmla="val 10169"/>
            </a:avLst>
          </a:prstGeom>
          <a:solidFill xmlns:a="http://schemas.openxmlformats.org/drawingml/2006/main">
            <a:srgbClr val="111111"/>
          </a:solidFill>
          <a:ln xmlns:a="http://schemas.openxmlformats.org/drawingml/2006/main" w="14288">
            <a:solidFill>
              <a:srgbClr val="111111"/>
            </a:solidFill>
            <a:prstDash val="solid"/>
          </a:ln>
        </p:spPr>
      </p:sp>
      <p:sp>
        <p:nvSpPr>
          <p:cNvPr id="21" name="">
            <a:extLst xmlns:a="http://schemas.openxmlformats.org/drawingml/2006/main">
              <a:ext uri="{FF2B5EF4-FFF2-40B4-BE49-F238E27FC236}">
                <a16:creationId xmlns:a16="http://schemas.microsoft.com/office/drawing/2014/main" id="{C1B3A0D9-6B3F-4DBE-961C-83B5C07C8F19}"/>
              </a:ext>
            </a:extLst>
          </p:cNvPr>
          <p:cNvSpPr>
            <a:spLocks xmlns:a="http://schemas.openxmlformats.org/drawingml/2006/main" noGrp="1"/>
          </p:cNvSpPr>
          <p:nvPr/>
        </p:nvSpPr>
        <p:spPr>
          <a:xfrm xmlns:a="http://schemas.openxmlformats.org/drawingml/2006/main">
            <a:off x="9315450" y="2733675"/>
            <a:ext cx="333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CBF4"/>
                </a:solidFill>
              </a:defRPr>
            </a:pPr>
            <a:r>
              <a:rPr sz="1200" b="1">
                <a:solidFill>
                  <a:srgbClr val="6DCBF4"/>
                </a:solidFill>
              </a:rPr>
              <a:t>5</a:t>
            </a:r>
          </a:p>
        </p:txBody>
      </p:sp>
      <p:sp>
        <p:nvSpPr>
          <p:cNvPr id="22" name="">
            <a:extLst xmlns:a="http://schemas.openxmlformats.org/drawingml/2006/main">
              <a:ext uri="{FF2B5EF4-FFF2-40B4-BE49-F238E27FC236}">
                <a16:creationId xmlns:a16="http://schemas.microsoft.com/office/drawing/2014/main" id="{19B4929A-C4DB-4685-AEA3-E111B173B539}"/>
              </a:ext>
            </a:extLst>
          </p:cNvPr>
          <p:cNvSpPr>
            <a:spLocks xmlns:a="http://schemas.openxmlformats.org/drawingml/2006/main" noGrp="1"/>
          </p:cNvSpPr>
          <p:nvPr/>
        </p:nvSpPr>
        <p:spPr>
          <a:xfrm xmlns:a="http://schemas.openxmlformats.org/drawingml/2006/main">
            <a:off x="9315450" y="312420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FFFFF"/>
                </a:solidFill>
              </a:defRPr>
            </a:pPr>
            <a:r>
              <a:rPr sz="1425" b="1">
                <a:solidFill>
                  <a:srgbClr val="FFFFFF"/>
                </a:solidFill>
              </a:rPr>
              <a:t>Answer / abstain</a:t>
            </a:r>
          </a:p>
        </p:txBody>
      </p:sp>
      <p:cxnSp>
        <p:nvCxnSpPr>
          <p:cNvPr id="48" name=""/>
          <p:cNvCxnSpPr>
            <a:stCxn xmlns:a="http://schemas.openxmlformats.org/drawingml/2006/main" id="16" idx="3"/>
            <a:endCxn xmlns:a="http://schemas.openxmlformats.org/drawingml/2006/main" id="20" idx="1"/>
          </p:cNvCxnSpPr>
          <p:nvPr/>
        </p:nvCxnSpPr>
        <p:spPr>
          <a:xfrm xmlns:a="http://schemas.openxmlformats.org/drawingml/2006/main">
            <a:off x="8686800" y="3133725"/>
            <a:ext cx="457200" cy="0"/>
          </a:xfrm>
          <a:prstGeom xmlns:a="http://schemas.openxmlformats.org/drawingml/2006/main" prst="straightConnector1">
            <a:avLst/>
          </a:prstGeom>
          <a:ln xmlns:a="http://schemas.openxmlformats.org/drawingml/2006/main" w="19050">
            <a:solidFill>
              <a:srgbClr val="5E6670"/>
            </a:solidFill>
            <a:prstDash val="solid"/>
            <a:tailEnd type="arrow" w="med" len="med"/>
          </a:ln>
        </p:spPr>
      </p:cxnSp>
      <p:sp>
        <p:nvSpPr>
          <p:cNvPr id="24" name="">
            <a:extLst xmlns:a="http://schemas.openxmlformats.org/drawingml/2006/main">
              <a:ext uri="{FF2B5EF4-FFF2-40B4-BE49-F238E27FC236}">
                <a16:creationId xmlns:a16="http://schemas.microsoft.com/office/drawing/2014/main" id="{22050D9F-B3D8-4E2D-B48C-FFB4CD1B7640}"/>
              </a:ext>
            </a:extLst>
          </p:cNvPr>
          <p:cNvSpPr>
            <a:spLocks xmlns:a="http://schemas.openxmlformats.org/drawingml/2006/main" noGrp="1"/>
          </p:cNvSpPr>
          <p:nvPr/>
        </p:nvSpPr>
        <p:spPr>
          <a:xfrm xmlns:a="http://schemas.openxmlformats.org/drawingml/2006/main">
            <a:off x="1809750" y="4238625"/>
            <a:ext cx="8572500" cy="1123950"/>
          </a:xfrm>
          <a:prstGeom xmlns:a="http://schemas.openxmlformats.org/drawingml/2006/main" prst="roundRect">
            <a:avLst>
              <a:gd name="adj" fmla="val 10169"/>
            </a:avLst>
          </a:prstGeom>
          <a:solidFill xmlns:a="http://schemas.openxmlformats.org/drawingml/2006/main">
            <a:srgbClr val="F4F6F8"/>
          </a:solidFill>
          <a:ln xmlns:a="http://schemas.openxmlformats.org/drawingml/2006/main" w="14288">
            <a:solidFill>
              <a:srgbClr val="D8DEE5"/>
            </a:solidFill>
            <a:prstDash val="solid"/>
          </a:ln>
        </p:spPr>
      </p:sp>
      <p:sp>
        <p:nvSpPr>
          <p:cNvPr id="25" name="">
            <a:extLst xmlns:a="http://schemas.openxmlformats.org/drawingml/2006/main">
              <a:ext uri="{FF2B5EF4-FFF2-40B4-BE49-F238E27FC236}">
                <a16:creationId xmlns:a16="http://schemas.microsoft.com/office/drawing/2014/main" id="{A9DC0653-5E15-4E07-B153-EE2599DC5834}"/>
              </a:ext>
            </a:extLst>
          </p:cNvPr>
          <p:cNvSpPr>
            <a:spLocks xmlns:a="http://schemas.openxmlformats.org/drawingml/2006/main" noGrp="1"/>
          </p:cNvSpPr>
          <p:nvPr/>
        </p:nvSpPr>
        <p:spPr>
          <a:xfrm xmlns:a="http://schemas.openxmlformats.org/drawingml/2006/main">
            <a:off x="2152650" y="4514850"/>
            <a:ext cx="7886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111111"/>
                </a:solidFill>
              </a:defRPr>
            </a:pPr>
            <a:r>
              <a:rPr sz="1725" b="1">
                <a:solidFill>
                  <a:srgbClr val="111111"/>
                </a:solidFill>
              </a:rPr>
              <a:t>“The travel policy covers reimbursable meal expenses, but it does not specify a maximum daily amount.”</a:t>
            </a:r>
          </a:p>
        </p:txBody>
      </p:sp>
    </p:spTree>
    <p:extLst>
      <p:ext uri="{BB962C8B-B14F-4D97-AF65-F5344CB8AC3E}">
        <p14:creationId xmlns:p14="http://schemas.microsoft.com/office/powerpoint/2010/main" val="129930713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5313844-12B7-4A43-B890-F9B22A87266D}"/>
              </a:ext>
            </a:extLst>
          </p:cNvPr>
          <p:cNvSpPr>
            <a:spLocks xmlns:a="http://schemas.openxmlformats.org/drawingml/2006/main" noGrp="1"/>
          </p:cNvSpPr>
          <p:nvPr/>
        </p:nvSpPr>
        <p:spPr>
          <a:xfrm xmlns:a="http://schemas.openxmlformats.org/drawingml/2006/main">
            <a:off x="609600" y="361950"/>
            <a:ext cx="838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D8DFF"/>
                </a:solidFill>
              </a:defRPr>
            </a:pPr>
            <a:r>
              <a:rPr sz="975" b="1">
                <a:solidFill>
                  <a:srgbClr val="3D8DFF"/>
                </a:solidFill>
              </a:rPr>
              <a:t>A REPEATABLE TEACHING LOOP TURNS FAILURE INTO UNDERSTANDING</a:t>
            </a:r>
          </a:p>
        </p:txBody>
      </p:sp>
      <p:sp>
        <p:nvSpPr>
          <p:cNvPr id="2" name="">
            <a:extLst xmlns:a="http://schemas.openxmlformats.org/drawingml/2006/main">
              <a:ext uri="{FF2B5EF4-FFF2-40B4-BE49-F238E27FC236}">
                <a16:creationId xmlns:a16="http://schemas.microsoft.com/office/drawing/2014/main" id="{674F6CA1-6691-49F0-81E6-9A9511018F37}"/>
              </a:ext>
            </a:extLst>
          </p:cNvPr>
          <p:cNvSpPr>
            <a:spLocks xmlns:a="http://schemas.openxmlformats.org/drawingml/2006/main" noGrp="1"/>
          </p:cNvSpPr>
          <p:nvPr/>
        </p:nvSpPr>
        <p:spPr>
          <a:xfrm xmlns:a="http://schemas.openxmlformats.org/drawingml/2006/main">
            <a:off x="609600" y="68580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11111"/>
                </a:solidFill>
              </a:defRPr>
            </a:pPr>
            <a:r>
              <a:rPr sz="2625" b="1">
                <a:solidFill>
                  <a:srgbClr val="111111"/>
                </a:solidFill>
              </a:rPr>
              <a:t>Each step gives learners a reason to care about the next.</a:t>
            </a:r>
          </a:p>
        </p:txBody>
      </p:sp>
      <p:sp>
        <p:nvSpPr>
          <p:cNvPr id="3" name="">
            <a:extLst xmlns:a="http://schemas.openxmlformats.org/drawingml/2006/main">
              <a:ext uri="{FF2B5EF4-FFF2-40B4-BE49-F238E27FC236}">
                <a16:creationId xmlns:a16="http://schemas.microsoft.com/office/drawing/2014/main" id="{299ED4B3-90BB-4B79-821A-3147FE4B42AD}"/>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8DEE5"/>
          </a:solidFill>
          <a:ln xmlns:a="http://schemas.openxmlformats.org/drawingml/2006/main" w="0">
            <a:solidFill>
              <a:srgbClr val="D8DEE5"/>
            </a:solidFill>
            <a:prstDash val="solid"/>
          </a:ln>
        </p:spPr>
      </p:sp>
      <p:sp>
        <p:nvSpPr>
          <p:cNvPr id="4" name="">
            <a:extLst xmlns:a="http://schemas.openxmlformats.org/drawingml/2006/main">
              <a:ext uri="{FF2B5EF4-FFF2-40B4-BE49-F238E27FC236}">
                <a16:creationId xmlns:a16="http://schemas.microsoft.com/office/drawing/2014/main" id="{6954285C-49C0-49EC-AA23-10EC7F6A4975}"/>
              </a:ext>
            </a:extLst>
          </p:cNvPr>
          <p:cNvSpPr>
            <a:spLocks xmlns:a="http://schemas.openxmlformats.org/drawingml/2006/main" noGrp="1"/>
          </p:cNvSpPr>
          <p:nvPr/>
        </p:nvSpPr>
        <p:spPr>
          <a:xfrm xmlns:a="http://schemas.openxmlformats.org/drawingml/2006/main">
            <a:off x="609600" y="6543675"/>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5E6670"/>
                </a:solidFill>
              </a:defRPr>
            </a:pPr>
            <a:r>
              <a:rPr sz="825" b="1">
                <a:solidFill>
                  <a:srgbClr val="5E6670"/>
                </a:solidFill>
              </a:rPr>
              <a:t>NICODEMUS CHAN  /  7</a:t>
            </a:r>
          </a:p>
        </p:txBody>
      </p:sp>
      <p:sp>
        <p:nvSpPr>
          <p:cNvPr id="5" name="">
            <a:extLst xmlns:a="http://schemas.openxmlformats.org/drawingml/2006/main">
              <a:ext uri="{FF2B5EF4-FFF2-40B4-BE49-F238E27FC236}">
                <a16:creationId xmlns:a16="http://schemas.microsoft.com/office/drawing/2014/main" id="{0D92B2BA-6F64-4B52-BE75-798163BEF85C}"/>
              </a:ext>
            </a:extLst>
          </p:cNvPr>
          <p:cNvSpPr>
            <a:spLocks xmlns:a="http://schemas.openxmlformats.org/drawingml/2006/main" noGrp="1"/>
          </p:cNvSpPr>
          <p:nvPr/>
        </p:nvSpPr>
        <p:spPr>
          <a:xfrm xmlns:a="http://schemas.openxmlformats.org/drawingml/2006/main">
            <a:off x="609600" y="2647950"/>
            <a:ext cx="1752600" cy="1714500"/>
          </a:xfrm>
          <a:prstGeom xmlns:a="http://schemas.openxmlformats.org/drawingml/2006/main" prst="roundRect">
            <a:avLst>
              <a:gd name="adj" fmla="val 6667"/>
            </a:avLst>
          </a:prstGeom>
          <a:solidFill xmlns:a="http://schemas.openxmlformats.org/drawingml/2006/main">
            <a:srgbClr val="F4F6F8"/>
          </a:solidFill>
          <a:ln xmlns:a="http://schemas.openxmlformats.org/drawingml/2006/main" w="14288">
            <a:solidFill>
              <a:srgbClr val="D8DEE5"/>
            </a:solidFill>
            <a:prstDash val="solid"/>
          </a:ln>
        </p:spPr>
      </p:sp>
      <p:sp>
        <p:nvSpPr>
          <p:cNvPr id="6" name="">
            <a:extLst xmlns:a="http://schemas.openxmlformats.org/drawingml/2006/main">
              <a:ext uri="{FF2B5EF4-FFF2-40B4-BE49-F238E27FC236}">
                <a16:creationId xmlns:a16="http://schemas.microsoft.com/office/drawing/2014/main" id="{FD6D8BB2-41B9-4160-9680-67ED2D786D90}"/>
              </a:ext>
            </a:extLst>
          </p:cNvPr>
          <p:cNvSpPr>
            <a:spLocks xmlns:a="http://schemas.openxmlformats.org/drawingml/2006/main" noGrp="1"/>
          </p:cNvSpPr>
          <p:nvPr/>
        </p:nvSpPr>
        <p:spPr>
          <a:xfrm xmlns:a="http://schemas.openxmlformats.org/drawingml/2006/main">
            <a:off x="781050" y="2819400"/>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3D8DFF"/>
                </a:solidFill>
              </a:defRPr>
            </a:pPr>
            <a:r>
              <a:rPr sz="1200" b="1">
                <a:solidFill>
                  <a:srgbClr val="3D8DFF"/>
                </a:solidFill>
              </a:rPr>
              <a:t>1</a:t>
            </a:r>
          </a:p>
        </p:txBody>
      </p:sp>
      <p:sp>
        <p:nvSpPr>
          <p:cNvPr id="7" name="">
            <a:extLst xmlns:a="http://schemas.openxmlformats.org/drawingml/2006/main">
              <a:ext uri="{FF2B5EF4-FFF2-40B4-BE49-F238E27FC236}">
                <a16:creationId xmlns:a16="http://schemas.microsoft.com/office/drawing/2014/main" id="{DB0FA8B8-E033-404E-8551-D9992AC2B702}"/>
              </a:ext>
            </a:extLst>
          </p:cNvPr>
          <p:cNvSpPr>
            <a:spLocks xmlns:a="http://schemas.openxmlformats.org/drawingml/2006/main" noGrp="1"/>
          </p:cNvSpPr>
          <p:nvPr/>
        </p:nvSpPr>
        <p:spPr>
          <a:xfrm xmlns:a="http://schemas.openxmlformats.org/drawingml/2006/main">
            <a:off x="781050" y="3219450"/>
            <a:ext cx="1409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11111"/>
                </a:solidFill>
              </a:defRPr>
            </a:pPr>
            <a:r>
              <a:rPr sz="1650" b="1">
                <a:solidFill>
                  <a:srgbClr val="111111"/>
                </a:solidFill>
              </a:rPr>
              <a:t>PREDICT</a:t>
            </a:r>
          </a:p>
        </p:txBody>
      </p:sp>
      <p:sp>
        <p:nvSpPr>
          <p:cNvPr id="8" name="">
            <a:extLst xmlns:a="http://schemas.openxmlformats.org/drawingml/2006/main">
              <a:ext uri="{FF2B5EF4-FFF2-40B4-BE49-F238E27FC236}">
                <a16:creationId xmlns:a16="http://schemas.microsoft.com/office/drawing/2014/main" id="{6439A2DF-6A4F-4085-9F2D-012B3D4D6506}"/>
              </a:ext>
            </a:extLst>
          </p:cNvPr>
          <p:cNvSpPr>
            <a:spLocks xmlns:a="http://schemas.openxmlformats.org/drawingml/2006/main" noGrp="1"/>
          </p:cNvSpPr>
          <p:nvPr/>
        </p:nvSpPr>
        <p:spPr>
          <a:xfrm xmlns:a="http://schemas.openxmlformats.org/drawingml/2006/main">
            <a:off x="781050" y="3676650"/>
            <a:ext cx="14097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E6670"/>
                </a:solidFill>
              </a:defRPr>
            </a:pPr>
            <a:r>
              <a:rPr sz="1200" b="0">
                <a:solidFill>
                  <a:srgbClr val="5E6670"/>
                </a:solidFill>
              </a:rPr>
              <a:t>Commit before seeing the result</a:t>
            </a:r>
          </a:p>
        </p:txBody>
      </p:sp>
      <p:sp>
        <p:nvSpPr>
          <p:cNvPr id="9" name="">
            <a:extLst xmlns:a="http://schemas.openxmlformats.org/drawingml/2006/main">
              <a:ext uri="{FF2B5EF4-FFF2-40B4-BE49-F238E27FC236}">
                <a16:creationId xmlns:a16="http://schemas.microsoft.com/office/drawing/2014/main" id="{1322716E-AFED-40F3-8969-A1A59D15229C}"/>
              </a:ext>
            </a:extLst>
          </p:cNvPr>
          <p:cNvSpPr>
            <a:spLocks xmlns:a="http://schemas.openxmlformats.org/drawingml/2006/main" noGrp="1"/>
          </p:cNvSpPr>
          <p:nvPr/>
        </p:nvSpPr>
        <p:spPr>
          <a:xfrm xmlns:a="http://schemas.openxmlformats.org/drawingml/2006/main">
            <a:off x="2800350" y="2647950"/>
            <a:ext cx="1752600" cy="1714500"/>
          </a:xfrm>
          <a:prstGeom xmlns:a="http://schemas.openxmlformats.org/drawingml/2006/main" prst="roundRect">
            <a:avLst>
              <a:gd name="adj" fmla="val 6667"/>
            </a:avLst>
          </a:prstGeom>
          <a:solidFill xmlns:a="http://schemas.openxmlformats.org/drawingml/2006/main">
            <a:srgbClr val="EAF5FF"/>
          </a:solidFill>
          <a:ln xmlns:a="http://schemas.openxmlformats.org/drawingml/2006/main" w="14288">
            <a:solidFill>
              <a:srgbClr val="D8DEE5"/>
            </a:solidFill>
            <a:prstDash val="solid"/>
          </a:ln>
        </p:spPr>
      </p:sp>
      <p:sp>
        <p:nvSpPr>
          <p:cNvPr id="10" name="">
            <a:extLst xmlns:a="http://schemas.openxmlformats.org/drawingml/2006/main">
              <a:ext uri="{FF2B5EF4-FFF2-40B4-BE49-F238E27FC236}">
                <a16:creationId xmlns:a16="http://schemas.microsoft.com/office/drawing/2014/main" id="{8020A43E-28D4-41AF-9272-84C422D10A91}"/>
              </a:ext>
            </a:extLst>
          </p:cNvPr>
          <p:cNvSpPr>
            <a:spLocks xmlns:a="http://schemas.openxmlformats.org/drawingml/2006/main" noGrp="1"/>
          </p:cNvSpPr>
          <p:nvPr/>
        </p:nvSpPr>
        <p:spPr>
          <a:xfrm xmlns:a="http://schemas.openxmlformats.org/drawingml/2006/main">
            <a:off x="2971800" y="2819400"/>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3D8DFF"/>
                </a:solidFill>
              </a:defRPr>
            </a:pPr>
            <a:r>
              <a:rPr sz="1200" b="1">
                <a:solidFill>
                  <a:srgbClr val="3D8DFF"/>
                </a:solidFill>
              </a:rPr>
              <a:t>2</a:t>
            </a:r>
          </a:p>
        </p:txBody>
      </p:sp>
      <p:sp>
        <p:nvSpPr>
          <p:cNvPr id="11" name="">
            <a:extLst xmlns:a="http://schemas.openxmlformats.org/drawingml/2006/main">
              <a:ext uri="{FF2B5EF4-FFF2-40B4-BE49-F238E27FC236}">
                <a16:creationId xmlns:a16="http://schemas.microsoft.com/office/drawing/2014/main" id="{8F89049C-F63F-4F2B-910C-FCB947396D75}"/>
              </a:ext>
            </a:extLst>
          </p:cNvPr>
          <p:cNvSpPr>
            <a:spLocks xmlns:a="http://schemas.openxmlformats.org/drawingml/2006/main" noGrp="1"/>
          </p:cNvSpPr>
          <p:nvPr/>
        </p:nvSpPr>
        <p:spPr>
          <a:xfrm xmlns:a="http://schemas.openxmlformats.org/drawingml/2006/main">
            <a:off x="2971800" y="3219450"/>
            <a:ext cx="1409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11111"/>
                </a:solidFill>
              </a:defRPr>
            </a:pPr>
            <a:r>
              <a:rPr sz="1650" b="1">
                <a:solidFill>
                  <a:srgbClr val="111111"/>
                </a:solidFill>
              </a:rPr>
              <a:t>BUILD</a:t>
            </a:r>
          </a:p>
        </p:txBody>
      </p:sp>
      <p:sp>
        <p:nvSpPr>
          <p:cNvPr id="12" name="">
            <a:extLst xmlns:a="http://schemas.openxmlformats.org/drawingml/2006/main">
              <a:ext uri="{FF2B5EF4-FFF2-40B4-BE49-F238E27FC236}">
                <a16:creationId xmlns:a16="http://schemas.microsoft.com/office/drawing/2014/main" id="{28FDEB97-9A3A-473A-98E5-589339627A68}"/>
              </a:ext>
            </a:extLst>
          </p:cNvPr>
          <p:cNvSpPr>
            <a:spLocks xmlns:a="http://schemas.openxmlformats.org/drawingml/2006/main" noGrp="1"/>
          </p:cNvSpPr>
          <p:nvPr/>
        </p:nvSpPr>
        <p:spPr>
          <a:xfrm xmlns:a="http://schemas.openxmlformats.org/drawingml/2006/main">
            <a:off x="2971800" y="3676650"/>
            <a:ext cx="14097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E6670"/>
                </a:solidFill>
              </a:defRPr>
            </a:pPr>
            <a:r>
              <a:rPr sz="1200" b="0">
                <a:solidFill>
                  <a:srgbClr val="5E6670"/>
                </a:solidFill>
              </a:rPr>
              <a:t>Create the smallest working version</a:t>
            </a:r>
          </a:p>
        </p:txBody>
      </p:sp>
      <p:sp>
        <p:nvSpPr>
          <p:cNvPr id="13" name="">
            <a:extLst xmlns:a="http://schemas.openxmlformats.org/drawingml/2006/main">
              <a:ext uri="{FF2B5EF4-FFF2-40B4-BE49-F238E27FC236}">
                <a16:creationId xmlns:a16="http://schemas.microsoft.com/office/drawing/2014/main" id="{D8D7A3EA-14C6-4743-8B10-229BC1B9052F}"/>
              </a:ext>
            </a:extLst>
          </p:cNvPr>
          <p:cNvSpPr>
            <a:spLocks xmlns:a="http://schemas.openxmlformats.org/drawingml/2006/main" noGrp="1"/>
          </p:cNvSpPr>
          <p:nvPr/>
        </p:nvSpPr>
        <p:spPr>
          <a:xfrm xmlns:a="http://schemas.openxmlformats.org/drawingml/2006/main">
            <a:off x="4991100" y="2647950"/>
            <a:ext cx="1752600" cy="1714500"/>
          </a:xfrm>
          <a:prstGeom xmlns:a="http://schemas.openxmlformats.org/drawingml/2006/main" prst="roundRect">
            <a:avLst>
              <a:gd name="adj" fmla="val 6667"/>
            </a:avLst>
          </a:prstGeom>
          <a:solidFill xmlns:a="http://schemas.openxmlformats.org/drawingml/2006/main">
            <a:srgbClr val="FFF3DC"/>
          </a:solidFill>
          <a:ln xmlns:a="http://schemas.openxmlformats.org/drawingml/2006/main" w="14288">
            <a:solidFill>
              <a:srgbClr val="D8DEE5"/>
            </a:solidFill>
            <a:prstDash val="solid"/>
          </a:ln>
        </p:spPr>
      </p:sp>
      <p:sp>
        <p:nvSpPr>
          <p:cNvPr id="14" name="">
            <a:extLst xmlns:a="http://schemas.openxmlformats.org/drawingml/2006/main">
              <a:ext uri="{FF2B5EF4-FFF2-40B4-BE49-F238E27FC236}">
                <a16:creationId xmlns:a16="http://schemas.microsoft.com/office/drawing/2014/main" id="{281C1ACE-6E80-4EB9-A421-DD5ABA1710BE}"/>
              </a:ext>
            </a:extLst>
          </p:cNvPr>
          <p:cNvSpPr>
            <a:spLocks xmlns:a="http://schemas.openxmlformats.org/drawingml/2006/main" noGrp="1"/>
          </p:cNvSpPr>
          <p:nvPr/>
        </p:nvSpPr>
        <p:spPr>
          <a:xfrm xmlns:a="http://schemas.openxmlformats.org/drawingml/2006/main">
            <a:off x="5162550" y="2819400"/>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3D8DFF"/>
                </a:solidFill>
              </a:defRPr>
            </a:pPr>
            <a:r>
              <a:rPr sz="1200" b="1">
                <a:solidFill>
                  <a:srgbClr val="3D8DFF"/>
                </a:solidFill>
              </a:rPr>
              <a:t>3</a:t>
            </a:r>
          </a:p>
        </p:txBody>
      </p:sp>
      <p:sp>
        <p:nvSpPr>
          <p:cNvPr id="15" name="">
            <a:extLst xmlns:a="http://schemas.openxmlformats.org/drawingml/2006/main">
              <a:ext uri="{FF2B5EF4-FFF2-40B4-BE49-F238E27FC236}">
                <a16:creationId xmlns:a16="http://schemas.microsoft.com/office/drawing/2014/main" id="{38A74004-A78D-4732-B9E1-9C66C0EE0F9B}"/>
              </a:ext>
            </a:extLst>
          </p:cNvPr>
          <p:cNvSpPr>
            <a:spLocks xmlns:a="http://schemas.openxmlformats.org/drawingml/2006/main" noGrp="1"/>
          </p:cNvSpPr>
          <p:nvPr/>
        </p:nvSpPr>
        <p:spPr>
          <a:xfrm xmlns:a="http://schemas.openxmlformats.org/drawingml/2006/main">
            <a:off x="5162550" y="3219450"/>
            <a:ext cx="1409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11111"/>
                </a:solidFill>
              </a:defRPr>
            </a:pPr>
            <a:r>
              <a:rPr sz="1650" b="1">
                <a:solidFill>
                  <a:srgbClr val="111111"/>
                </a:solidFill>
              </a:rPr>
              <a:t>BREAK</a:t>
            </a:r>
          </a:p>
        </p:txBody>
      </p:sp>
      <p:sp>
        <p:nvSpPr>
          <p:cNvPr id="16" name="">
            <a:extLst xmlns:a="http://schemas.openxmlformats.org/drawingml/2006/main">
              <a:ext uri="{FF2B5EF4-FFF2-40B4-BE49-F238E27FC236}">
                <a16:creationId xmlns:a16="http://schemas.microsoft.com/office/drawing/2014/main" id="{948F8903-8D8B-473C-AE99-49245AEF30FF}"/>
              </a:ext>
            </a:extLst>
          </p:cNvPr>
          <p:cNvSpPr>
            <a:spLocks xmlns:a="http://schemas.openxmlformats.org/drawingml/2006/main" noGrp="1"/>
          </p:cNvSpPr>
          <p:nvPr/>
        </p:nvSpPr>
        <p:spPr>
          <a:xfrm xmlns:a="http://schemas.openxmlformats.org/drawingml/2006/main">
            <a:off x="5162550" y="3676650"/>
            <a:ext cx="14097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E6670"/>
                </a:solidFill>
              </a:defRPr>
            </a:pPr>
            <a:r>
              <a:rPr sz="1200" b="0">
                <a:solidFill>
                  <a:srgbClr val="5E6670"/>
                </a:solidFill>
              </a:rPr>
              <a:t>Expose a realistic edge case</a:t>
            </a:r>
          </a:p>
        </p:txBody>
      </p:sp>
      <p:sp>
        <p:nvSpPr>
          <p:cNvPr id="17" name="">
            <a:extLst xmlns:a="http://schemas.openxmlformats.org/drawingml/2006/main">
              <a:ext uri="{FF2B5EF4-FFF2-40B4-BE49-F238E27FC236}">
                <a16:creationId xmlns:a16="http://schemas.microsoft.com/office/drawing/2014/main" id="{403FE36F-8401-4895-BF28-0570AB4356BD}"/>
              </a:ext>
            </a:extLst>
          </p:cNvPr>
          <p:cNvSpPr>
            <a:spLocks xmlns:a="http://schemas.openxmlformats.org/drawingml/2006/main" noGrp="1"/>
          </p:cNvSpPr>
          <p:nvPr/>
        </p:nvSpPr>
        <p:spPr>
          <a:xfrm xmlns:a="http://schemas.openxmlformats.org/drawingml/2006/main">
            <a:off x="7181850" y="2647950"/>
            <a:ext cx="1752600" cy="1714500"/>
          </a:xfrm>
          <a:prstGeom xmlns:a="http://schemas.openxmlformats.org/drawingml/2006/main" prst="roundRect">
            <a:avLst>
              <a:gd name="adj" fmla="val 6667"/>
            </a:avLst>
          </a:prstGeom>
          <a:solidFill xmlns:a="http://schemas.openxmlformats.org/drawingml/2006/main">
            <a:srgbClr val="EAF5FF"/>
          </a:solidFill>
          <a:ln xmlns:a="http://schemas.openxmlformats.org/drawingml/2006/main" w="14288">
            <a:solidFill>
              <a:srgbClr val="D8DEE5"/>
            </a:solidFill>
            <a:prstDash val="solid"/>
          </a:ln>
        </p:spPr>
      </p:sp>
      <p:sp>
        <p:nvSpPr>
          <p:cNvPr id="18" name="">
            <a:extLst xmlns:a="http://schemas.openxmlformats.org/drawingml/2006/main">
              <a:ext uri="{FF2B5EF4-FFF2-40B4-BE49-F238E27FC236}">
                <a16:creationId xmlns:a16="http://schemas.microsoft.com/office/drawing/2014/main" id="{2DFED201-7840-4517-86AD-52370CF83DE7}"/>
              </a:ext>
            </a:extLst>
          </p:cNvPr>
          <p:cNvSpPr>
            <a:spLocks xmlns:a="http://schemas.openxmlformats.org/drawingml/2006/main" noGrp="1"/>
          </p:cNvSpPr>
          <p:nvPr/>
        </p:nvSpPr>
        <p:spPr>
          <a:xfrm xmlns:a="http://schemas.openxmlformats.org/drawingml/2006/main">
            <a:off x="7353300" y="2819400"/>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3D8DFF"/>
                </a:solidFill>
              </a:defRPr>
            </a:pPr>
            <a:r>
              <a:rPr sz="1200" b="1">
                <a:solidFill>
                  <a:srgbClr val="3D8DFF"/>
                </a:solidFill>
              </a:rPr>
              <a:t>4</a:t>
            </a:r>
          </a:p>
        </p:txBody>
      </p:sp>
      <p:sp>
        <p:nvSpPr>
          <p:cNvPr id="19" name="">
            <a:extLst xmlns:a="http://schemas.openxmlformats.org/drawingml/2006/main">
              <a:ext uri="{FF2B5EF4-FFF2-40B4-BE49-F238E27FC236}">
                <a16:creationId xmlns:a16="http://schemas.microsoft.com/office/drawing/2014/main" id="{D45DC829-D819-45F2-9C42-627F061E0073}"/>
              </a:ext>
            </a:extLst>
          </p:cNvPr>
          <p:cNvSpPr>
            <a:spLocks xmlns:a="http://schemas.openxmlformats.org/drawingml/2006/main" noGrp="1"/>
          </p:cNvSpPr>
          <p:nvPr/>
        </p:nvSpPr>
        <p:spPr>
          <a:xfrm xmlns:a="http://schemas.openxmlformats.org/drawingml/2006/main">
            <a:off x="7353300" y="3219450"/>
            <a:ext cx="1409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11111"/>
                </a:solidFill>
              </a:defRPr>
            </a:pPr>
            <a:r>
              <a:rPr sz="1650" b="1">
                <a:solidFill>
                  <a:srgbClr val="111111"/>
                </a:solidFill>
              </a:rPr>
              <a:t>EXPLAIN</a:t>
            </a:r>
          </a:p>
        </p:txBody>
      </p:sp>
      <p:sp>
        <p:nvSpPr>
          <p:cNvPr id="20" name="">
            <a:extLst xmlns:a="http://schemas.openxmlformats.org/drawingml/2006/main">
              <a:ext uri="{FF2B5EF4-FFF2-40B4-BE49-F238E27FC236}">
                <a16:creationId xmlns:a16="http://schemas.microsoft.com/office/drawing/2014/main" id="{36BDA488-3D2D-4137-B2C7-6503184A60E5}"/>
              </a:ext>
            </a:extLst>
          </p:cNvPr>
          <p:cNvSpPr>
            <a:spLocks xmlns:a="http://schemas.openxmlformats.org/drawingml/2006/main" noGrp="1"/>
          </p:cNvSpPr>
          <p:nvPr/>
        </p:nvSpPr>
        <p:spPr>
          <a:xfrm xmlns:a="http://schemas.openxmlformats.org/drawingml/2006/main">
            <a:off x="7353300" y="3676650"/>
            <a:ext cx="14097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5E6670"/>
                </a:solidFill>
              </a:defRPr>
            </a:pPr>
            <a:r>
              <a:rPr sz="1200" b="0">
                <a:solidFill>
                  <a:srgbClr val="5E6670"/>
                </a:solidFill>
              </a:rPr>
              <a:t>Trace evidence and identify the cause</a:t>
            </a:r>
          </a:p>
        </p:txBody>
      </p:sp>
      <p:sp>
        <p:nvSpPr>
          <p:cNvPr id="21" name="">
            <a:extLst xmlns:a="http://schemas.openxmlformats.org/drawingml/2006/main">
              <a:ext uri="{FF2B5EF4-FFF2-40B4-BE49-F238E27FC236}">
                <a16:creationId xmlns:a16="http://schemas.microsoft.com/office/drawing/2014/main" id="{09F8CACB-0DBB-4521-85D0-A0EDB8A0FF47}"/>
              </a:ext>
            </a:extLst>
          </p:cNvPr>
          <p:cNvSpPr>
            <a:spLocks xmlns:a="http://schemas.openxmlformats.org/drawingml/2006/main" noGrp="1"/>
          </p:cNvSpPr>
          <p:nvPr/>
        </p:nvSpPr>
        <p:spPr>
          <a:xfrm xmlns:a="http://schemas.openxmlformats.org/drawingml/2006/main">
            <a:off x="9372600" y="2647950"/>
            <a:ext cx="1752600" cy="1714500"/>
          </a:xfrm>
          <a:prstGeom xmlns:a="http://schemas.openxmlformats.org/drawingml/2006/main" prst="roundRect">
            <a:avLst>
              <a:gd name="adj" fmla="val 6667"/>
            </a:avLst>
          </a:prstGeom>
          <a:solidFill xmlns:a="http://schemas.openxmlformats.org/drawingml/2006/main">
            <a:srgbClr val="111111"/>
          </a:solidFill>
          <a:ln xmlns:a="http://schemas.openxmlformats.org/drawingml/2006/main" w="14288">
            <a:solidFill>
              <a:srgbClr val="111111"/>
            </a:solidFill>
            <a:prstDash val="solid"/>
          </a:ln>
        </p:spPr>
      </p:sp>
      <p:sp>
        <p:nvSpPr>
          <p:cNvPr id="22" name="">
            <a:extLst xmlns:a="http://schemas.openxmlformats.org/drawingml/2006/main">
              <a:ext uri="{FF2B5EF4-FFF2-40B4-BE49-F238E27FC236}">
                <a16:creationId xmlns:a16="http://schemas.microsoft.com/office/drawing/2014/main" id="{777BCF6C-7E51-4038-9551-0FE8254EC868}"/>
              </a:ext>
            </a:extLst>
          </p:cNvPr>
          <p:cNvSpPr>
            <a:spLocks xmlns:a="http://schemas.openxmlformats.org/drawingml/2006/main" noGrp="1"/>
          </p:cNvSpPr>
          <p:nvPr/>
        </p:nvSpPr>
        <p:spPr>
          <a:xfrm xmlns:a="http://schemas.openxmlformats.org/drawingml/2006/main">
            <a:off x="9544050" y="2819400"/>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6DCBF4"/>
                </a:solidFill>
              </a:defRPr>
            </a:pPr>
            <a:r>
              <a:rPr sz="1200" b="1">
                <a:solidFill>
                  <a:srgbClr val="6DCBF4"/>
                </a:solidFill>
              </a:rPr>
              <a:t>5</a:t>
            </a:r>
          </a:p>
        </p:txBody>
      </p:sp>
      <p:sp>
        <p:nvSpPr>
          <p:cNvPr id="23" name="">
            <a:extLst xmlns:a="http://schemas.openxmlformats.org/drawingml/2006/main">
              <a:ext uri="{FF2B5EF4-FFF2-40B4-BE49-F238E27FC236}">
                <a16:creationId xmlns:a16="http://schemas.microsoft.com/office/drawing/2014/main" id="{C15D7549-60AF-4A1E-B3FA-1ED3EC063C2D}"/>
              </a:ext>
            </a:extLst>
          </p:cNvPr>
          <p:cNvSpPr>
            <a:spLocks xmlns:a="http://schemas.openxmlformats.org/drawingml/2006/main" noGrp="1"/>
          </p:cNvSpPr>
          <p:nvPr/>
        </p:nvSpPr>
        <p:spPr>
          <a:xfrm xmlns:a="http://schemas.openxmlformats.org/drawingml/2006/main">
            <a:off x="9544050" y="3219450"/>
            <a:ext cx="1409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FFFFFF"/>
                </a:solidFill>
              </a:defRPr>
            </a:pPr>
            <a:r>
              <a:rPr sz="1650" b="1">
                <a:solidFill>
                  <a:srgbClr val="FFFFFF"/>
                </a:solidFill>
              </a:rPr>
              <a:t>IMPROVE</a:t>
            </a:r>
          </a:p>
        </p:txBody>
      </p:sp>
      <p:sp>
        <p:nvSpPr>
          <p:cNvPr id="24" name="">
            <a:extLst xmlns:a="http://schemas.openxmlformats.org/drawingml/2006/main">
              <a:ext uri="{FF2B5EF4-FFF2-40B4-BE49-F238E27FC236}">
                <a16:creationId xmlns:a16="http://schemas.microsoft.com/office/drawing/2014/main" id="{95B5CB49-7616-499A-A734-1217C65AAE27}"/>
              </a:ext>
            </a:extLst>
          </p:cNvPr>
          <p:cNvSpPr>
            <a:spLocks xmlns:a="http://schemas.openxmlformats.org/drawingml/2006/main" noGrp="1"/>
          </p:cNvSpPr>
          <p:nvPr/>
        </p:nvSpPr>
        <p:spPr>
          <a:xfrm xmlns:a="http://schemas.openxmlformats.org/drawingml/2006/main">
            <a:off x="9544050" y="3676650"/>
            <a:ext cx="14097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a:solidFill>
                  <a:srgbClr val="FFFFFF"/>
                </a:solidFill>
              </a:defRPr>
            </a:pPr>
            <a:r>
              <a:rPr sz="1200" b="0">
                <a:solidFill>
                  <a:srgbClr val="FFFFFF"/>
                </a:solidFill>
              </a:rPr>
              <a:t>Make one change and evaluate again</a:t>
            </a:r>
          </a:p>
        </p:txBody>
      </p:sp>
      <p:sp>
        <p:nvSpPr>
          <p:cNvPr id="25" name="">
            <a:extLst xmlns:a="http://schemas.openxmlformats.org/drawingml/2006/main">
              <a:ext uri="{FF2B5EF4-FFF2-40B4-BE49-F238E27FC236}">
                <a16:creationId xmlns:a16="http://schemas.microsoft.com/office/drawing/2014/main" id="{8945FE76-DBAC-41BF-AA91-C4E3895478EE}"/>
              </a:ext>
            </a:extLst>
          </p:cNvPr>
          <p:cNvSpPr>
            <a:spLocks xmlns:a="http://schemas.openxmlformats.org/drawingml/2006/main" noGrp="1"/>
          </p:cNvSpPr>
          <p:nvPr/>
        </p:nvSpPr>
        <p:spPr>
          <a:xfrm xmlns:a="http://schemas.openxmlformats.org/drawingml/2006/main">
            <a:off x="2381250" y="3295650"/>
            <a:ext cx="400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5E6670"/>
                </a:solidFill>
              </a:defRPr>
            </a:pPr>
            <a:r>
              <a:rPr sz="2025" b="1">
                <a:solidFill>
                  <a:srgbClr val="5E6670"/>
                </a:solidFill>
              </a:rPr>
              <a:t>→</a:t>
            </a:r>
          </a:p>
        </p:txBody>
      </p:sp>
      <p:sp>
        <p:nvSpPr>
          <p:cNvPr id="26" name="">
            <a:extLst xmlns:a="http://schemas.openxmlformats.org/drawingml/2006/main">
              <a:ext uri="{FF2B5EF4-FFF2-40B4-BE49-F238E27FC236}">
                <a16:creationId xmlns:a16="http://schemas.microsoft.com/office/drawing/2014/main" id="{E0A96FB4-6056-495F-B9DB-FB03488083CA}"/>
              </a:ext>
            </a:extLst>
          </p:cNvPr>
          <p:cNvSpPr>
            <a:spLocks xmlns:a="http://schemas.openxmlformats.org/drawingml/2006/main" noGrp="1"/>
          </p:cNvSpPr>
          <p:nvPr/>
        </p:nvSpPr>
        <p:spPr>
          <a:xfrm xmlns:a="http://schemas.openxmlformats.org/drawingml/2006/main">
            <a:off x="4572000" y="3295650"/>
            <a:ext cx="400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5E6670"/>
                </a:solidFill>
              </a:defRPr>
            </a:pPr>
            <a:r>
              <a:rPr sz="2025" b="1">
                <a:solidFill>
                  <a:srgbClr val="5E6670"/>
                </a:solidFill>
              </a:rPr>
              <a:t>→</a:t>
            </a:r>
          </a:p>
        </p:txBody>
      </p:sp>
      <p:sp>
        <p:nvSpPr>
          <p:cNvPr id="27" name="">
            <a:extLst xmlns:a="http://schemas.openxmlformats.org/drawingml/2006/main">
              <a:ext uri="{FF2B5EF4-FFF2-40B4-BE49-F238E27FC236}">
                <a16:creationId xmlns:a16="http://schemas.microsoft.com/office/drawing/2014/main" id="{B2C12A88-7FA0-4DE8-A19E-04DBD589F735}"/>
              </a:ext>
            </a:extLst>
          </p:cNvPr>
          <p:cNvSpPr>
            <a:spLocks xmlns:a="http://schemas.openxmlformats.org/drawingml/2006/main" noGrp="1"/>
          </p:cNvSpPr>
          <p:nvPr/>
        </p:nvSpPr>
        <p:spPr>
          <a:xfrm xmlns:a="http://schemas.openxmlformats.org/drawingml/2006/main">
            <a:off x="6762750" y="3295650"/>
            <a:ext cx="400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5E6670"/>
                </a:solidFill>
              </a:defRPr>
            </a:pPr>
            <a:r>
              <a:rPr sz="2025" b="1">
                <a:solidFill>
                  <a:srgbClr val="5E6670"/>
                </a:solidFill>
              </a:rPr>
              <a:t>→</a:t>
            </a:r>
          </a:p>
        </p:txBody>
      </p:sp>
      <p:sp>
        <p:nvSpPr>
          <p:cNvPr id="28" name="">
            <a:extLst xmlns:a="http://schemas.openxmlformats.org/drawingml/2006/main">
              <a:ext uri="{FF2B5EF4-FFF2-40B4-BE49-F238E27FC236}">
                <a16:creationId xmlns:a16="http://schemas.microsoft.com/office/drawing/2014/main" id="{BA7BF37F-108B-4724-85C6-C332B031B75F}"/>
              </a:ext>
            </a:extLst>
          </p:cNvPr>
          <p:cNvSpPr>
            <a:spLocks xmlns:a="http://schemas.openxmlformats.org/drawingml/2006/main" noGrp="1"/>
          </p:cNvSpPr>
          <p:nvPr/>
        </p:nvSpPr>
        <p:spPr>
          <a:xfrm xmlns:a="http://schemas.openxmlformats.org/drawingml/2006/main">
            <a:off x="8953500" y="3295650"/>
            <a:ext cx="400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5E6670"/>
                </a:solidFill>
              </a:defRPr>
            </a:pPr>
            <a:r>
              <a:rPr sz="2025" b="1">
                <a:solidFill>
                  <a:srgbClr val="5E6670"/>
                </a:solidFill>
              </a:rPr>
              <a:t>→</a:t>
            </a:r>
          </a:p>
        </p:txBody>
      </p:sp>
      <p:sp>
        <p:nvSpPr>
          <p:cNvPr id="29" name="">
            <a:extLst xmlns:a="http://schemas.openxmlformats.org/drawingml/2006/main">
              <a:ext uri="{FF2B5EF4-FFF2-40B4-BE49-F238E27FC236}">
                <a16:creationId xmlns:a16="http://schemas.microsoft.com/office/drawing/2014/main" id="{658F6698-0A6E-44D6-ADAE-8A13F298C4C7}"/>
              </a:ext>
            </a:extLst>
          </p:cNvPr>
          <p:cNvSpPr>
            <a:spLocks xmlns:a="http://schemas.openxmlformats.org/drawingml/2006/main" noGrp="1"/>
          </p:cNvSpPr>
          <p:nvPr/>
        </p:nvSpPr>
        <p:spPr>
          <a:xfrm xmlns:a="http://schemas.openxmlformats.org/drawingml/2006/main">
            <a:off x="609600" y="5095875"/>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3D8DFF"/>
                </a:solidFill>
              </a:defRPr>
            </a:pPr>
            <a:r>
              <a:rPr sz="1725" b="1">
                <a:solidFill>
                  <a:srgbClr val="3D8DFF"/>
                </a:solidFill>
              </a:rPr>
              <a:t>The method works for RAG, agents, MCP, APIs, and live troubleshooting.</a:t>
            </a:r>
          </a:p>
        </p:txBody>
      </p:sp>
    </p:spTree>
    <p:extLst>
      <p:ext uri="{BB962C8B-B14F-4D97-AF65-F5344CB8AC3E}">
        <p14:creationId xmlns:p14="http://schemas.microsoft.com/office/powerpoint/2010/main" val="2670232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7CC9E7D-D282-4E07-B5ED-76A46CA7B077}"/>
              </a:ext>
            </a:extLst>
          </p:cNvPr>
          <p:cNvSpPr>
            <a:spLocks xmlns:a="http://schemas.openxmlformats.org/drawingml/2006/main" noGrp="1"/>
          </p:cNvSpPr>
          <p:nvPr/>
        </p:nvSpPr>
        <p:spPr>
          <a:xfrm xmlns:a="http://schemas.openxmlformats.org/drawingml/2006/main">
            <a:off x="609600" y="361950"/>
            <a:ext cx="838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3D8DFF"/>
                </a:solidFill>
              </a:defRPr>
            </a:pPr>
            <a:r>
              <a:rPr sz="975" b="1">
                <a:solidFill>
                  <a:srgbClr val="3D8DFF"/>
                </a:solidFill>
              </a:rPr>
              <a:t>MCP EXTENDS ONE POLICY-SEARCH TOOL ACROSS MULTIPLE AGENT EXPERIENCES</a:t>
            </a:r>
          </a:p>
        </p:txBody>
      </p:sp>
      <p:sp>
        <p:nvSpPr>
          <p:cNvPr id="2" name="">
            <a:extLst xmlns:a="http://schemas.openxmlformats.org/drawingml/2006/main">
              <a:ext uri="{FF2B5EF4-FFF2-40B4-BE49-F238E27FC236}">
                <a16:creationId xmlns:a16="http://schemas.microsoft.com/office/drawing/2014/main" id="{F9578707-6942-4B7B-9513-690D615A312E}"/>
              </a:ext>
            </a:extLst>
          </p:cNvPr>
          <p:cNvSpPr>
            <a:spLocks xmlns:a="http://schemas.openxmlformats.org/drawingml/2006/main" noGrp="1"/>
          </p:cNvSpPr>
          <p:nvPr/>
        </p:nvSpPr>
        <p:spPr>
          <a:xfrm xmlns:a="http://schemas.openxmlformats.org/drawingml/2006/main">
            <a:off x="609600" y="685800"/>
            <a:ext cx="10668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a:solidFill>
                  <a:srgbClr val="111111"/>
                </a:solidFill>
              </a:defRPr>
            </a:pPr>
            <a:r>
              <a:rPr sz="2625" b="1">
                <a:solidFill>
                  <a:srgbClr val="111111"/>
                </a:solidFill>
              </a:rPr>
              <a:t>The clients change; the existing RAG logic stays in one place.</a:t>
            </a:r>
          </a:p>
        </p:txBody>
      </p:sp>
      <p:sp>
        <p:nvSpPr>
          <p:cNvPr id="3" name="">
            <a:extLst xmlns:a="http://schemas.openxmlformats.org/drawingml/2006/main">
              <a:ext uri="{FF2B5EF4-FFF2-40B4-BE49-F238E27FC236}">
                <a16:creationId xmlns:a16="http://schemas.microsoft.com/office/drawing/2014/main" id="{AC103EAF-D54F-4807-B760-AB1F0DC760AB}"/>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8DEE5"/>
          </a:solidFill>
          <a:ln xmlns:a="http://schemas.openxmlformats.org/drawingml/2006/main" w="0">
            <a:solidFill>
              <a:srgbClr val="D8DEE5"/>
            </a:solidFill>
            <a:prstDash val="solid"/>
          </a:ln>
        </p:spPr>
      </p:sp>
      <p:sp>
        <p:nvSpPr>
          <p:cNvPr id="4" name="">
            <a:extLst xmlns:a="http://schemas.openxmlformats.org/drawingml/2006/main">
              <a:ext uri="{FF2B5EF4-FFF2-40B4-BE49-F238E27FC236}">
                <a16:creationId xmlns:a16="http://schemas.microsoft.com/office/drawing/2014/main" id="{46A8195F-DE31-4002-BD0B-FE8E66D37D5B}"/>
              </a:ext>
            </a:extLst>
          </p:cNvPr>
          <p:cNvSpPr>
            <a:spLocks xmlns:a="http://schemas.openxmlformats.org/drawingml/2006/main" noGrp="1"/>
          </p:cNvSpPr>
          <p:nvPr/>
        </p:nvSpPr>
        <p:spPr>
          <a:xfrm xmlns:a="http://schemas.openxmlformats.org/drawingml/2006/main">
            <a:off x="609600" y="6543675"/>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5E6670"/>
                </a:solidFill>
              </a:defRPr>
            </a:pPr>
            <a:r>
              <a:rPr sz="825" b="1">
                <a:solidFill>
                  <a:srgbClr val="5E6670"/>
                </a:solidFill>
              </a:rPr>
              <a:t>NICODEMUS CHAN  /  8</a:t>
            </a:r>
          </a:p>
        </p:txBody>
      </p:sp>
      <p:sp>
        <p:nvSpPr>
          <p:cNvPr id="5" name="">
            <a:extLst xmlns:a="http://schemas.openxmlformats.org/drawingml/2006/main">
              <a:ext uri="{FF2B5EF4-FFF2-40B4-BE49-F238E27FC236}">
                <a16:creationId xmlns:a16="http://schemas.microsoft.com/office/drawing/2014/main" id="{39655BA2-6400-4B78-9E12-520F507B13E0}"/>
              </a:ext>
            </a:extLst>
          </p:cNvPr>
          <p:cNvSpPr>
            <a:spLocks xmlns:a="http://schemas.openxmlformats.org/drawingml/2006/main" noGrp="1"/>
          </p:cNvSpPr>
          <p:nvPr/>
        </p:nvSpPr>
        <p:spPr>
          <a:xfrm xmlns:a="http://schemas.openxmlformats.org/drawingml/2006/main">
            <a:off x="609600" y="2324100"/>
            <a:ext cx="3143250" cy="2628900"/>
          </a:xfrm>
          <a:prstGeom xmlns:a="http://schemas.openxmlformats.org/drawingml/2006/main" prst="roundRect">
            <a:avLst>
              <a:gd name="adj" fmla="val 4348"/>
            </a:avLst>
          </a:prstGeom>
          <a:solidFill xmlns:a="http://schemas.openxmlformats.org/drawingml/2006/main">
            <a:srgbClr val="F4F6F8"/>
          </a:solidFill>
          <a:ln xmlns:a="http://schemas.openxmlformats.org/drawingml/2006/main" w="14288">
            <a:solidFill>
              <a:srgbClr val="D8DEE5"/>
            </a:solidFill>
            <a:prstDash val="solid"/>
          </a:ln>
        </p:spPr>
      </p:sp>
      <p:sp>
        <p:nvSpPr>
          <p:cNvPr id="6" name="">
            <a:extLst xmlns:a="http://schemas.openxmlformats.org/drawingml/2006/main">
              <a:ext uri="{FF2B5EF4-FFF2-40B4-BE49-F238E27FC236}">
                <a16:creationId xmlns:a16="http://schemas.microsoft.com/office/drawing/2014/main" id="{16CFAA63-3A03-4F46-8AF4-8C0796971134}"/>
              </a:ext>
            </a:extLst>
          </p:cNvPr>
          <p:cNvSpPr>
            <a:spLocks xmlns:a="http://schemas.openxmlformats.org/drawingml/2006/main" noGrp="1"/>
          </p:cNvSpPr>
          <p:nvPr/>
        </p:nvSpPr>
        <p:spPr>
          <a:xfrm xmlns:a="http://schemas.openxmlformats.org/drawingml/2006/main">
            <a:off x="895350" y="258127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3D8DFF"/>
                </a:solidFill>
              </a:defRPr>
            </a:pPr>
            <a:r>
              <a:rPr sz="1350" b="1">
                <a:solidFill>
                  <a:srgbClr val="3D8DFF"/>
                </a:solidFill>
              </a:rPr>
              <a:t>MCP CLIENTS</a:t>
            </a:r>
          </a:p>
        </p:txBody>
      </p:sp>
      <p:sp>
        <p:nvSpPr>
          <p:cNvPr id="7" name="">
            <a:extLst xmlns:a="http://schemas.openxmlformats.org/drawingml/2006/main">
              <a:ext uri="{FF2B5EF4-FFF2-40B4-BE49-F238E27FC236}">
                <a16:creationId xmlns:a16="http://schemas.microsoft.com/office/drawing/2014/main" id="{FECCE430-E198-4768-A437-C84F5DF4263D}"/>
              </a:ext>
            </a:extLst>
          </p:cNvPr>
          <p:cNvSpPr>
            <a:spLocks xmlns:a="http://schemas.openxmlformats.org/drawingml/2006/main" noGrp="1"/>
          </p:cNvSpPr>
          <p:nvPr/>
        </p:nvSpPr>
        <p:spPr>
          <a:xfrm xmlns:a="http://schemas.openxmlformats.org/drawingml/2006/main">
            <a:off x="990600" y="3095625"/>
            <a:ext cx="2381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11111"/>
                </a:solidFill>
              </a:defRPr>
            </a:pPr>
            <a:r>
              <a:rPr sz="1500" b="1">
                <a:solidFill>
                  <a:srgbClr val="111111"/>
                </a:solidFill>
              </a:rPr>
              <a:t>Training agent</a:t>
            </a:r>
          </a:p>
          <a:p xmlns:a="http://schemas.openxmlformats.org/drawingml/2006/main">
            <a:pPr algn="ctr">
              <a:defRPr sz="1500" b="1">
                <a:solidFill>
                  <a:srgbClr val="111111"/>
                </a:solidFill>
              </a:defRPr>
            </a:pPr>
            <a:r>
              <a:rPr sz="1500" b="1">
                <a:solidFill>
                  <a:srgbClr val="111111"/>
                </a:solidFill>
              </a:rPr>
              <a:t>Web-chat backend</a:t>
            </a:r>
          </a:p>
          <a:p xmlns:a="http://schemas.openxmlformats.org/drawingml/2006/main">
            <a:pPr algn="ctr">
              <a:defRPr sz="1500" b="1">
                <a:solidFill>
                  <a:srgbClr val="111111"/>
                </a:solidFill>
              </a:defRPr>
            </a:pPr>
            <a:r>
              <a:rPr sz="1500" b="1">
                <a:solidFill>
                  <a:srgbClr val="111111"/>
                </a:solidFill>
              </a:rPr>
              <a:t>IDE assistant</a:t>
            </a:r>
          </a:p>
          <a:p xmlns:a="http://schemas.openxmlformats.org/drawingml/2006/main">
            <a:pPr algn="ctr">
              <a:defRPr sz="1500" b="1">
                <a:solidFill>
                  <a:srgbClr val="111111"/>
                </a:solidFill>
              </a:defRPr>
            </a:pPr>
            <a:r>
              <a:rPr sz="1500" b="1">
                <a:solidFill>
                  <a:srgbClr val="111111"/>
                </a:solidFill>
              </a:rPr>
              <a:t>WhatsApp agent backend</a:t>
            </a:r>
          </a:p>
        </p:txBody>
      </p:sp>
      <p:sp>
        <p:nvSpPr>
          <p:cNvPr id="8" name="">
            <a:extLst xmlns:a="http://schemas.openxmlformats.org/drawingml/2006/main">
              <a:ext uri="{FF2B5EF4-FFF2-40B4-BE49-F238E27FC236}">
                <a16:creationId xmlns:a16="http://schemas.microsoft.com/office/drawing/2014/main" id="{9C0ED09D-321E-4D65-97DF-7C295FD49145}"/>
              </a:ext>
            </a:extLst>
          </p:cNvPr>
          <p:cNvSpPr>
            <a:spLocks xmlns:a="http://schemas.openxmlformats.org/drawingml/2006/main" noGrp="1"/>
          </p:cNvSpPr>
          <p:nvPr/>
        </p:nvSpPr>
        <p:spPr>
          <a:xfrm xmlns:a="http://schemas.openxmlformats.org/drawingml/2006/main">
            <a:off x="4476750" y="2800350"/>
            <a:ext cx="2762250" cy="1676400"/>
          </a:xfrm>
          <a:prstGeom xmlns:a="http://schemas.openxmlformats.org/drawingml/2006/main" prst="roundRect">
            <a:avLst>
              <a:gd name="adj" fmla="val 6818"/>
            </a:avLst>
          </a:prstGeom>
          <a:solidFill xmlns:a="http://schemas.openxmlformats.org/drawingml/2006/main">
            <a:srgbClr val="111111"/>
          </a:solidFill>
          <a:ln xmlns:a="http://schemas.openxmlformats.org/drawingml/2006/main" w="14288">
            <a:solidFill>
              <a:srgbClr val="111111"/>
            </a:solidFill>
            <a:prstDash val="solid"/>
          </a:ln>
        </p:spPr>
      </p:sp>
      <p:sp>
        <p:nvSpPr>
          <p:cNvPr id="9" name="">
            <a:extLst xmlns:a="http://schemas.openxmlformats.org/drawingml/2006/main">
              <a:ext uri="{FF2B5EF4-FFF2-40B4-BE49-F238E27FC236}">
                <a16:creationId xmlns:a16="http://schemas.microsoft.com/office/drawing/2014/main" id="{5674B825-A7E0-4B0A-AE3A-7478856BE46B}"/>
              </a:ext>
            </a:extLst>
          </p:cNvPr>
          <p:cNvSpPr>
            <a:spLocks xmlns:a="http://schemas.openxmlformats.org/drawingml/2006/main" noGrp="1"/>
          </p:cNvSpPr>
          <p:nvPr/>
        </p:nvSpPr>
        <p:spPr>
          <a:xfrm xmlns:a="http://schemas.openxmlformats.org/drawingml/2006/main">
            <a:off x="4762500" y="3133725"/>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FFFFFF"/>
                </a:solidFill>
              </a:defRPr>
            </a:pPr>
            <a:r>
              <a:rPr sz="2025" b="1">
                <a:solidFill>
                  <a:srgbClr val="FFFFFF"/>
                </a:solidFill>
              </a:rPr>
              <a:t>Policy Search</a:t>
            </a:r>
          </a:p>
        </p:txBody>
      </p:sp>
      <p:sp>
        <p:nvSpPr>
          <p:cNvPr id="10" name="">
            <a:extLst xmlns:a="http://schemas.openxmlformats.org/drawingml/2006/main">
              <a:ext uri="{FF2B5EF4-FFF2-40B4-BE49-F238E27FC236}">
                <a16:creationId xmlns:a16="http://schemas.microsoft.com/office/drawing/2014/main" id="{40257078-C906-437E-849E-39C7B3378D63}"/>
              </a:ext>
            </a:extLst>
          </p:cNvPr>
          <p:cNvSpPr>
            <a:spLocks xmlns:a="http://schemas.openxmlformats.org/drawingml/2006/main" noGrp="1"/>
          </p:cNvSpPr>
          <p:nvPr/>
        </p:nvSpPr>
        <p:spPr>
          <a:xfrm xmlns:a="http://schemas.openxmlformats.org/drawingml/2006/main">
            <a:off x="4762500" y="36957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6DCBF4"/>
                </a:solidFill>
              </a:defRPr>
            </a:pPr>
            <a:r>
              <a:rPr sz="1350" b="1">
                <a:solidFill>
                  <a:srgbClr val="6DCBF4"/>
                </a:solidFill>
              </a:rPr>
              <a:t>MCP server</a:t>
            </a:r>
          </a:p>
        </p:txBody>
      </p:sp>
      <p:sp>
        <p:nvSpPr>
          <p:cNvPr id="11" name="">
            <a:extLst xmlns:a="http://schemas.openxmlformats.org/drawingml/2006/main">
              <a:ext uri="{FF2B5EF4-FFF2-40B4-BE49-F238E27FC236}">
                <a16:creationId xmlns:a16="http://schemas.microsoft.com/office/drawing/2014/main" id="{E6AB30E1-330B-4708-83B4-9DCEA54AA993}"/>
              </a:ext>
            </a:extLst>
          </p:cNvPr>
          <p:cNvSpPr>
            <a:spLocks xmlns:a="http://schemas.openxmlformats.org/drawingml/2006/main" noGrp="1"/>
          </p:cNvSpPr>
          <p:nvPr/>
        </p:nvSpPr>
        <p:spPr>
          <a:xfrm xmlns:a="http://schemas.openxmlformats.org/drawingml/2006/main">
            <a:off x="7962900" y="2324100"/>
            <a:ext cx="3619500" cy="2628900"/>
          </a:xfrm>
          <a:prstGeom xmlns:a="http://schemas.openxmlformats.org/drawingml/2006/main" prst="roundRect">
            <a:avLst>
              <a:gd name="adj" fmla="val 4348"/>
            </a:avLst>
          </a:prstGeom>
          <a:solidFill xmlns:a="http://schemas.openxmlformats.org/drawingml/2006/main">
            <a:srgbClr val="EAF5FF"/>
          </a:solidFill>
          <a:ln xmlns:a="http://schemas.openxmlformats.org/drawingml/2006/main" w="14288">
            <a:solidFill>
              <a:srgbClr val="3D8DFF"/>
            </a:solidFill>
            <a:prstDash val="solid"/>
          </a:ln>
        </p:spPr>
      </p:sp>
      <p:sp>
        <p:nvSpPr>
          <p:cNvPr id="12" name="">
            <a:extLst xmlns:a="http://schemas.openxmlformats.org/drawingml/2006/main">
              <a:ext uri="{FF2B5EF4-FFF2-40B4-BE49-F238E27FC236}">
                <a16:creationId xmlns:a16="http://schemas.microsoft.com/office/drawing/2014/main" id="{2FC9413C-5198-4798-8053-C7C6E0B5D2B5}"/>
              </a:ext>
            </a:extLst>
          </p:cNvPr>
          <p:cNvSpPr>
            <a:spLocks xmlns:a="http://schemas.openxmlformats.org/drawingml/2006/main" noGrp="1"/>
          </p:cNvSpPr>
          <p:nvPr/>
        </p:nvSpPr>
        <p:spPr>
          <a:xfrm xmlns:a="http://schemas.openxmlformats.org/drawingml/2006/main">
            <a:off x="8286750" y="2581275"/>
            <a:ext cx="297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3D8DFF"/>
                </a:solidFill>
              </a:defRPr>
            </a:pPr>
            <a:r>
              <a:rPr sz="1350" b="1">
                <a:solidFill>
                  <a:srgbClr val="3D8DFF"/>
                </a:solidFill>
              </a:rPr>
              <a:t>EXISTING POLICY RAG</a:t>
            </a:r>
          </a:p>
        </p:txBody>
      </p:sp>
      <p:sp>
        <p:nvSpPr>
          <p:cNvPr id="13" name="">
            <a:extLst xmlns:a="http://schemas.openxmlformats.org/drawingml/2006/main">
              <a:ext uri="{FF2B5EF4-FFF2-40B4-BE49-F238E27FC236}">
                <a16:creationId xmlns:a16="http://schemas.microsoft.com/office/drawing/2014/main" id="{755824FF-69B6-4A9B-B20C-FA998C960444}"/>
              </a:ext>
            </a:extLst>
          </p:cNvPr>
          <p:cNvSpPr>
            <a:spLocks xmlns:a="http://schemas.openxmlformats.org/drawingml/2006/main" noGrp="1"/>
          </p:cNvSpPr>
          <p:nvPr/>
        </p:nvSpPr>
        <p:spPr>
          <a:xfrm xmlns:a="http://schemas.openxmlformats.org/drawingml/2006/main">
            <a:off x="8439150" y="3095625"/>
            <a:ext cx="26670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11111"/>
                </a:solidFill>
              </a:defRPr>
            </a:pPr>
            <a:r>
              <a:rPr sz="1500" b="1">
                <a:solidFill>
                  <a:srgbClr val="111111"/>
                </a:solidFill>
              </a:rPr>
              <a:t>rag_app.py</a:t>
            </a:r>
          </a:p>
          <a:p xmlns:a="http://schemas.openxmlformats.org/drawingml/2006/main">
            <a:pPr algn="ctr">
              <a:defRPr sz="1500" b="1">
                <a:solidFill>
                  <a:srgbClr val="111111"/>
                </a:solidFill>
              </a:defRPr>
            </a:pPr>
            <a:r>
              <a:rPr sz="1500" b="1">
                <a:solidFill>
                  <a:srgbClr val="111111"/>
                </a:solidFill>
              </a:rPr>
              <a:t>load index</a:t>
            </a:r>
          </a:p>
          <a:p xmlns:a="http://schemas.openxmlformats.org/drawingml/2006/main">
            <a:pPr algn="ctr">
              <a:defRPr sz="1500" b="1">
                <a:solidFill>
                  <a:srgbClr val="111111"/>
                </a:solidFill>
              </a:defRPr>
            </a:pPr>
            <a:r>
              <a:rPr sz="1500" b="1">
                <a:solidFill>
                  <a:srgbClr val="111111"/>
                </a:solidFill>
              </a:rPr>
              <a:t>retrieve + rank</a:t>
            </a:r>
          </a:p>
          <a:p xmlns:a="http://schemas.openxmlformats.org/drawingml/2006/main">
            <a:pPr algn="ctr">
              <a:defRPr sz="1500" b="1">
                <a:solidFill>
                  <a:srgbClr val="111111"/>
                </a:solidFill>
              </a:defRPr>
            </a:pPr>
            <a:r>
              <a:rPr sz="1500" b="1">
                <a:solidFill>
                  <a:srgbClr val="111111"/>
                </a:solidFill>
              </a:rPr>
              <a:t>threshold filtering</a:t>
            </a:r>
          </a:p>
        </p:txBody>
      </p:sp>
      <p:sp>
        <p:nvSpPr>
          <p:cNvPr id="14" name="">
            <a:extLst xmlns:a="http://schemas.openxmlformats.org/drawingml/2006/main">
              <a:ext uri="{FF2B5EF4-FFF2-40B4-BE49-F238E27FC236}">
                <a16:creationId xmlns:a16="http://schemas.microsoft.com/office/drawing/2014/main" id="{BA261AE9-B9C5-45B3-BA58-E075DE249D9D}"/>
              </a:ext>
            </a:extLst>
          </p:cNvPr>
          <p:cNvSpPr>
            <a:spLocks xmlns:a="http://schemas.openxmlformats.org/drawingml/2006/main" noGrp="1"/>
          </p:cNvSpPr>
          <p:nvPr/>
        </p:nvSpPr>
        <p:spPr>
          <a:xfrm xmlns:a="http://schemas.openxmlformats.org/drawingml/2006/main">
            <a:off x="3848100" y="3390900"/>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a:solidFill>
                  <a:srgbClr val="5E6670"/>
                </a:solidFill>
              </a:defRPr>
            </a:pPr>
            <a:r>
              <a:rPr sz="2250" b="1">
                <a:solidFill>
                  <a:srgbClr val="5E6670"/>
                </a:solidFill>
              </a:rPr>
              <a:t>→</a:t>
            </a:r>
          </a:p>
        </p:txBody>
      </p:sp>
      <p:sp>
        <p:nvSpPr>
          <p:cNvPr id="15" name="">
            <a:extLst xmlns:a="http://schemas.openxmlformats.org/drawingml/2006/main">
              <a:ext uri="{FF2B5EF4-FFF2-40B4-BE49-F238E27FC236}">
                <a16:creationId xmlns:a16="http://schemas.microsoft.com/office/drawing/2014/main" id="{A2E3EDED-05FD-49BB-AE7B-A9431DD3B1F0}"/>
              </a:ext>
            </a:extLst>
          </p:cNvPr>
          <p:cNvSpPr>
            <a:spLocks xmlns:a="http://schemas.openxmlformats.org/drawingml/2006/main" noGrp="1"/>
          </p:cNvSpPr>
          <p:nvPr/>
        </p:nvSpPr>
        <p:spPr>
          <a:xfrm xmlns:a="http://schemas.openxmlformats.org/drawingml/2006/main">
            <a:off x="7334250" y="3390900"/>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a:solidFill>
                  <a:srgbClr val="5E6670"/>
                </a:solidFill>
              </a:defRPr>
            </a:pPr>
            <a:r>
              <a:rPr sz="2250" b="1">
                <a:solidFill>
                  <a:srgbClr val="5E6670"/>
                </a:solidFill>
              </a:rPr>
              <a:t>→</a:t>
            </a:r>
          </a:p>
        </p:txBody>
      </p:sp>
      <p:sp>
        <p:nvSpPr>
          <p:cNvPr id="16" name="">
            <a:extLst xmlns:a="http://schemas.openxmlformats.org/drawingml/2006/main">
              <a:ext uri="{FF2B5EF4-FFF2-40B4-BE49-F238E27FC236}">
                <a16:creationId xmlns:a16="http://schemas.microsoft.com/office/drawing/2014/main" id="{0872F0A3-4178-4111-867B-883B31BF52B7}"/>
              </a:ext>
            </a:extLst>
          </p:cNvPr>
          <p:cNvSpPr>
            <a:spLocks xmlns:a="http://schemas.openxmlformats.org/drawingml/2006/main" noGrp="1"/>
          </p:cNvSpPr>
          <p:nvPr/>
        </p:nvSpPr>
        <p:spPr>
          <a:xfrm xmlns:a="http://schemas.openxmlformats.org/drawingml/2006/main">
            <a:off x="609600" y="5400675"/>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3D8DFF"/>
                </a:solidFill>
              </a:defRPr>
            </a:pPr>
            <a:r>
              <a:rPr sz="1650" b="1">
                <a:solidFill>
                  <a:srgbClr val="3D8DFF"/>
                </a:solidFill>
              </a:rPr>
              <a:t>MCP standardizes discovery, schemas, and tool calls - it does not replace the RAG.</a:t>
            </a:r>
          </a:p>
        </p:txBody>
      </p:sp>
    </p:spTree>
    <p:extLst>
      <p:ext uri="{BB962C8B-B14F-4D97-AF65-F5344CB8AC3E}">
        <p14:creationId xmlns:p14="http://schemas.microsoft.com/office/powerpoint/2010/main" val="19142201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2026-08-18T20:01:50.3900000Z</dcterms:created>
  <dcterms:modified xsi:type="dcterms:W3CDTF">2026-08-18T20:01:50.3900000Z</dcterms:modified>
</coreProperties>
</file>